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962"/>
    <p:restoredTop sz="94565"/>
  </p:normalViewPr>
  <p:slideViewPr>
    <p:cSldViewPr snapToGrid="0">
      <p:cViewPr varScale="1">
        <p:scale>
          <a:sx n="101" d="100"/>
          <a:sy n="101" d="100"/>
        </p:scale>
        <p:origin x="208" y="4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8634D790-C92F-474A-BC51-ACD32EFF9725}" type="datetimeFigureOut">
              <a:rPr lang="en-US" smtClean="0"/>
              <a:t>9/3/26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338245-0F6C-9B45-8AF0-58F3B038E713}" type="slidenum">
              <a:rPr lang="en-US" smtClean="0"/>
              <a:t>‹#›</a:t>
            </a:fld>
            <a:endParaRPr lang="en-US"/>
          </a:p>
        </p:txBody>
      </p:sp>
    </p:spTree>
    <p:extLst>
      <p:ext uri="{BB962C8B-B14F-4D97-AF65-F5344CB8AC3E}">
        <p14:creationId xmlns:p14="http://schemas.microsoft.com/office/powerpoint/2010/main" val="1624348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634D790-C92F-474A-BC51-ACD32EFF9725}" type="datetimeFigureOut">
              <a:rPr lang="en-US" smtClean="0"/>
              <a:t>9/3/26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338245-0F6C-9B45-8AF0-58F3B038E713}" type="slidenum">
              <a:rPr lang="en-US" smtClean="0"/>
              <a:t>‹#›</a:t>
            </a:fld>
            <a:endParaRPr lang="en-US"/>
          </a:p>
        </p:txBody>
      </p:sp>
    </p:spTree>
    <p:extLst>
      <p:ext uri="{BB962C8B-B14F-4D97-AF65-F5344CB8AC3E}">
        <p14:creationId xmlns:p14="http://schemas.microsoft.com/office/powerpoint/2010/main" val="4160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634D790-C92F-474A-BC51-ACD32EFF9725}" type="datetimeFigureOut">
              <a:rPr lang="en-US" smtClean="0"/>
              <a:t>9/3/26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338245-0F6C-9B45-8AF0-58F3B038E713}" type="slidenum">
              <a:rPr lang="en-US" smtClean="0"/>
              <a:t>‹#›</a:t>
            </a:fld>
            <a:endParaRPr lang="en-US"/>
          </a:p>
        </p:txBody>
      </p:sp>
    </p:spTree>
    <p:extLst>
      <p:ext uri="{BB962C8B-B14F-4D97-AF65-F5344CB8AC3E}">
        <p14:creationId xmlns:p14="http://schemas.microsoft.com/office/powerpoint/2010/main" val="2768123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634D790-C92F-474A-BC51-ACD32EFF9725}" type="datetimeFigureOut">
              <a:rPr lang="en-US" smtClean="0"/>
              <a:t>9/3/26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338245-0F6C-9B45-8AF0-58F3B038E713}" type="slidenum">
              <a:rPr lang="en-US" smtClean="0"/>
              <a:t>‹#›</a:t>
            </a:fld>
            <a:endParaRPr lang="en-US"/>
          </a:p>
        </p:txBody>
      </p:sp>
    </p:spTree>
    <p:extLst>
      <p:ext uri="{BB962C8B-B14F-4D97-AF65-F5344CB8AC3E}">
        <p14:creationId xmlns:p14="http://schemas.microsoft.com/office/powerpoint/2010/main" val="1571251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634D790-C92F-474A-BC51-ACD32EFF9725}" type="datetimeFigureOut">
              <a:rPr lang="en-US" smtClean="0"/>
              <a:t>9/3/26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9338245-0F6C-9B45-8AF0-58F3B038E713}" type="slidenum">
              <a:rPr lang="en-US" smtClean="0"/>
              <a:t>‹#›</a:t>
            </a:fld>
            <a:endParaRPr lang="en-US"/>
          </a:p>
        </p:txBody>
      </p:sp>
    </p:spTree>
    <p:extLst>
      <p:ext uri="{BB962C8B-B14F-4D97-AF65-F5344CB8AC3E}">
        <p14:creationId xmlns:p14="http://schemas.microsoft.com/office/powerpoint/2010/main" val="386625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634D790-C92F-474A-BC51-ACD32EFF9725}" type="datetimeFigureOut">
              <a:rPr lang="en-US" smtClean="0"/>
              <a:t>9/3/26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9338245-0F6C-9B45-8AF0-58F3B038E713}" type="slidenum">
              <a:rPr lang="en-US" smtClean="0"/>
              <a:t>‹#›</a:t>
            </a:fld>
            <a:endParaRPr lang="en-US"/>
          </a:p>
        </p:txBody>
      </p:sp>
    </p:spTree>
    <p:extLst>
      <p:ext uri="{BB962C8B-B14F-4D97-AF65-F5344CB8AC3E}">
        <p14:creationId xmlns:p14="http://schemas.microsoft.com/office/powerpoint/2010/main" val="1205082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34D790-C92F-474A-BC51-ACD32EFF9725}" type="datetimeFigureOut">
              <a:rPr lang="en-US" smtClean="0"/>
              <a:t>9/3/26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9338245-0F6C-9B45-8AF0-58F3B038E713}" type="slidenum">
              <a:rPr lang="en-US" smtClean="0"/>
              <a:t>‹#›</a:t>
            </a:fld>
            <a:endParaRPr lang="en-US"/>
          </a:p>
        </p:txBody>
      </p:sp>
    </p:spTree>
    <p:extLst>
      <p:ext uri="{BB962C8B-B14F-4D97-AF65-F5344CB8AC3E}">
        <p14:creationId xmlns:p14="http://schemas.microsoft.com/office/powerpoint/2010/main" val="557554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634D790-C92F-474A-BC51-ACD32EFF9725}" type="datetimeFigureOut">
              <a:rPr lang="en-US" smtClean="0"/>
              <a:t>9/3/26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338245-0F6C-9B45-8AF0-58F3B038E713}" type="slidenum">
              <a:rPr lang="en-US" smtClean="0"/>
              <a:t>‹#›</a:t>
            </a:fld>
            <a:endParaRPr lang="en-US"/>
          </a:p>
        </p:txBody>
      </p:sp>
    </p:spTree>
    <p:extLst>
      <p:ext uri="{BB962C8B-B14F-4D97-AF65-F5344CB8AC3E}">
        <p14:creationId xmlns:p14="http://schemas.microsoft.com/office/powerpoint/2010/main" val="3159284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634D790-C92F-474A-BC51-ACD32EFF9725}" type="datetimeFigureOut">
              <a:rPr lang="en-US" smtClean="0"/>
              <a:t>9/3/26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338245-0F6C-9B45-8AF0-58F3B038E713}" type="slidenum">
              <a:rPr lang="en-US" smtClean="0"/>
              <a:t>‹#›</a:t>
            </a:fld>
            <a:endParaRPr lang="en-US"/>
          </a:p>
        </p:txBody>
      </p:sp>
    </p:spTree>
    <p:extLst>
      <p:ext uri="{BB962C8B-B14F-4D97-AF65-F5344CB8AC3E}">
        <p14:creationId xmlns:p14="http://schemas.microsoft.com/office/powerpoint/2010/main" val="2843427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634D790-C92F-474A-BC51-ACD32EFF9725}" type="datetimeFigureOut">
              <a:rPr lang="en-US" smtClean="0"/>
              <a:t>9/3/26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338245-0F6C-9B45-8AF0-58F3B038E713}" type="slidenum">
              <a:rPr lang="en-US" smtClean="0"/>
              <a:t>‹#›</a:t>
            </a:fld>
            <a:endParaRPr lang="en-US"/>
          </a:p>
        </p:txBody>
      </p:sp>
    </p:spTree>
    <p:extLst>
      <p:ext uri="{BB962C8B-B14F-4D97-AF65-F5344CB8AC3E}">
        <p14:creationId xmlns:p14="http://schemas.microsoft.com/office/powerpoint/2010/main" val="2770091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634D790-C92F-474A-BC51-ACD32EFF9725}" type="datetimeFigureOut">
              <a:rPr lang="en-US" smtClean="0"/>
              <a:t>9/3/26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338245-0F6C-9B45-8AF0-58F3B038E713}" type="slidenum">
              <a:rPr lang="en-US" smtClean="0"/>
              <a:t>‹#›</a:t>
            </a:fld>
            <a:endParaRPr lang="en-US"/>
          </a:p>
        </p:txBody>
      </p:sp>
    </p:spTree>
    <p:extLst>
      <p:ext uri="{BB962C8B-B14F-4D97-AF65-F5344CB8AC3E}">
        <p14:creationId xmlns:p14="http://schemas.microsoft.com/office/powerpoint/2010/main" val="2325950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634D790-C92F-474A-BC51-ACD32EFF9725}" type="datetimeFigureOut">
              <a:rPr lang="en-US" smtClean="0"/>
              <a:t>9/3/26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338245-0F6C-9B45-8AF0-58F3B038E713}" type="slidenum">
              <a:rPr lang="en-US" smtClean="0"/>
              <a:t>‹#›</a:t>
            </a:fld>
            <a:endParaRPr lang="en-US"/>
          </a:p>
        </p:txBody>
      </p:sp>
    </p:spTree>
    <p:extLst>
      <p:ext uri="{BB962C8B-B14F-4D97-AF65-F5344CB8AC3E}">
        <p14:creationId xmlns:p14="http://schemas.microsoft.com/office/powerpoint/2010/main" val="22934029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FBFD2-2F58-BD46-09C9-30CC869D1C0F}"/>
              </a:ext>
            </a:extLst>
          </p:cNvPr>
          <p:cNvSpPr>
            <a:spLocks noGrp="1"/>
          </p:cNvSpPr>
          <p:nvPr>
            <p:ph type="ctrTitle"/>
          </p:nvPr>
        </p:nvSpPr>
        <p:spPr>
          <a:xfrm>
            <a:off x="1244602" y="553862"/>
            <a:ext cx="6858000" cy="959556"/>
          </a:xfrm>
        </p:spPr>
        <p:txBody>
          <a:bodyPr>
            <a:normAutofit/>
          </a:bodyPr>
          <a:lstStyle/>
          <a:p>
            <a:r>
              <a:rPr lang="en-US" dirty="0" err="1"/>
              <a:t>Yeslyf</a:t>
            </a:r>
            <a:endParaRPr lang="en-US" dirty="0"/>
          </a:p>
        </p:txBody>
      </p:sp>
      <p:sp>
        <p:nvSpPr>
          <p:cNvPr id="5" name="Subtitle 4">
            <a:extLst>
              <a:ext uri="{FF2B5EF4-FFF2-40B4-BE49-F238E27FC236}">
                <a16:creationId xmlns:a16="http://schemas.microsoft.com/office/drawing/2014/main" id="{68B43CEA-653D-9FE9-9572-443196A5C41C}"/>
              </a:ext>
            </a:extLst>
          </p:cNvPr>
          <p:cNvSpPr>
            <a:spLocks noGrp="1"/>
          </p:cNvSpPr>
          <p:nvPr>
            <p:ph type="subTitle" idx="1"/>
          </p:nvPr>
        </p:nvSpPr>
        <p:spPr>
          <a:xfrm>
            <a:off x="2846212" y="2108199"/>
            <a:ext cx="3654778" cy="473251"/>
          </a:xfrm>
        </p:spPr>
        <p:txBody>
          <a:bodyPr/>
          <a:lstStyle/>
          <a:p>
            <a:r>
              <a:rPr lang="en-US" dirty="0"/>
              <a:t>Sign up now</a:t>
            </a:r>
          </a:p>
        </p:txBody>
      </p:sp>
      <p:sp>
        <p:nvSpPr>
          <p:cNvPr id="6" name="Rectangle 5">
            <a:extLst>
              <a:ext uri="{FF2B5EF4-FFF2-40B4-BE49-F238E27FC236}">
                <a16:creationId xmlns:a16="http://schemas.microsoft.com/office/drawing/2014/main" id="{6BEB8E22-CFF7-4771-C1A5-AFC10E209746}"/>
              </a:ext>
            </a:extLst>
          </p:cNvPr>
          <p:cNvSpPr/>
          <p:nvPr/>
        </p:nvSpPr>
        <p:spPr>
          <a:xfrm>
            <a:off x="2257781" y="2912532"/>
            <a:ext cx="293512" cy="3499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16229C1-C213-35D0-5210-9588EE76B0F4}"/>
              </a:ext>
            </a:extLst>
          </p:cNvPr>
          <p:cNvSpPr/>
          <p:nvPr/>
        </p:nvSpPr>
        <p:spPr>
          <a:xfrm>
            <a:off x="2686759" y="2912531"/>
            <a:ext cx="293512" cy="3499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F5FE52-3ECF-2155-A2AC-399DC40C3B10}"/>
              </a:ext>
            </a:extLst>
          </p:cNvPr>
          <p:cNvSpPr/>
          <p:nvPr/>
        </p:nvSpPr>
        <p:spPr>
          <a:xfrm>
            <a:off x="3172181" y="2912531"/>
            <a:ext cx="293512" cy="3499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076C842-F8CE-A0F2-4971-E4BAD5631A78}"/>
              </a:ext>
            </a:extLst>
          </p:cNvPr>
          <p:cNvSpPr/>
          <p:nvPr/>
        </p:nvSpPr>
        <p:spPr>
          <a:xfrm>
            <a:off x="3657603" y="2912531"/>
            <a:ext cx="293512" cy="3499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EC9472B-3276-3BFA-14CF-6788419CFF6D}"/>
              </a:ext>
            </a:extLst>
          </p:cNvPr>
          <p:cNvSpPr/>
          <p:nvPr/>
        </p:nvSpPr>
        <p:spPr>
          <a:xfrm>
            <a:off x="4120447" y="2912531"/>
            <a:ext cx="293512" cy="3499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ED655D1-DB25-1944-F551-16DB6A40402B}"/>
              </a:ext>
            </a:extLst>
          </p:cNvPr>
          <p:cNvSpPr/>
          <p:nvPr/>
        </p:nvSpPr>
        <p:spPr>
          <a:xfrm>
            <a:off x="4775205" y="2912532"/>
            <a:ext cx="293512" cy="3499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4AD756-F699-CBAD-F4D0-8E8A5434EC59}"/>
              </a:ext>
            </a:extLst>
          </p:cNvPr>
          <p:cNvSpPr/>
          <p:nvPr/>
        </p:nvSpPr>
        <p:spPr>
          <a:xfrm>
            <a:off x="5204183" y="2912531"/>
            <a:ext cx="293512" cy="3499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0966FF8-CA11-5CA2-636E-03A2F7D9002F}"/>
              </a:ext>
            </a:extLst>
          </p:cNvPr>
          <p:cNvSpPr/>
          <p:nvPr/>
        </p:nvSpPr>
        <p:spPr>
          <a:xfrm>
            <a:off x="5689605" y="2912531"/>
            <a:ext cx="293512" cy="3499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E312D08-3D45-4E0D-FA35-E7E980691060}"/>
              </a:ext>
            </a:extLst>
          </p:cNvPr>
          <p:cNvSpPr/>
          <p:nvPr/>
        </p:nvSpPr>
        <p:spPr>
          <a:xfrm>
            <a:off x="6175027" y="2912531"/>
            <a:ext cx="293512" cy="3499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7C24077-7289-6551-C8CB-E367A77093FF}"/>
              </a:ext>
            </a:extLst>
          </p:cNvPr>
          <p:cNvSpPr/>
          <p:nvPr/>
        </p:nvSpPr>
        <p:spPr>
          <a:xfrm>
            <a:off x="6637871" y="2912531"/>
            <a:ext cx="293512" cy="3499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ubtitle 4">
            <a:extLst>
              <a:ext uri="{FF2B5EF4-FFF2-40B4-BE49-F238E27FC236}">
                <a16:creationId xmlns:a16="http://schemas.microsoft.com/office/drawing/2014/main" id="{3FEE2087-1A79-5527-E713-3E28B4BED338}"/>
              </a:ext>
            </a:extLst>
          </p:cNvPr>
          <p:cNvSpPr txBox="1">
            <a:spLocks/>
          </p:cNvSpPr>
          <p:nvPr/>
        </p:nvSpPr>
        <p:spPr>
          <a:xfrm>
            <a:off x="2709335" y="3593568"/>
            <a:ext cx="3654778" cy="47325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OTP</a:t>
            </a:r>
          </a:p>
        </p:txBody>
      </p:sp>
      <p:sp>
        <p:nvSpPr>
          <p:cNvPr id="17" name="Rectangle 16">
            <a:extLst>
              <a:ext uri="{FF2B5EF4-FFF2-40B4-BE49-F238E27FC236}">
                <a16:creationId xmlns:a16="http://schemas.microsoft.com/office/drawing/2014/main" id="{FAE1FAE1-5002-B008-D56E-4EEA17FD30A1}"/>
              </a:ext>
            </a:extLst>
          </p:cNvPr>
          <p:cNvSpPr/>
          <p:nvPr/>
        </p:nvSpPr>
        <p:spPr>
          <a:xfrm>
            <a:off x="3702755" y="4099627"/>
            <a:ext cx="293512" cy="3499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DDD9412-7FFE-FE12-3083-AA5721ED3338}"/>
              </a:ext>
            </a:extLst>
          </p:cNvPr>
          <p:cNvSpPr/>
          <p:nvPr/>
        </p:nvSpPr>
        <p:spPr>
          <a:xfrm>
            <a:off x="4165601" y="4117619"/>
            <a:ext cx="293512" cy="3499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01BFB93-4A50-3B59-9875-591E56280EE8}"/>
              </a:ext>
            </a:extLst>
          </p:cNvPr>
          <p:cNvSpPr/>
          <p:nvPr/>
        </p:nvSpPr>
        <p:spPr>
          <a:xfrm>
            <a:off x="4628447" y="4135611"/>
            <a:ext cx="293512" cy="3499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1B35BFD-37E2-8C7B-521B-E62E4C857C5B}"/>
              </a:ext>
            </a:extLst>
          </p:cNvPr>
          <p:cNvSpPr/>
          <p:nvPr/>
        </p:nvSpPr>
        <p:spPr>
          <a:xfrm>
            <a:off x="5091293" y="4153603"/>
            <a:ext cx="293512" cy="3499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8FA7E17D-53AE-EE7B-FA8E-84814502C637}"/>
              </a:ext>
            </a:extLst>
          </p:cNvPr>
          <p:cNvSpPr txBox="1"/>
          <p:nvPr/>
        </p:nvSpPr>
        <p:spPr>
          <a:xfrm>
            <a:off x="1535289" y="5926667"/>
            <a:ext cx="6567313" cy="369332"/>
          </a:xfrm>
          <a:prstGeom prst="rect">
            <a:avLst/>
          </a:prstGeom>
          <a:noFill/>
        </p:spPr>
        <p:txBody>
          <a:bodyPr wrap="square" rtlCol="0">
            <a:spAutoFit/>
          </a:bodyPr>
          <a:lstStyle/>
          <a:p>
            <a:r>
              <a:rPr lang="en-US" dirty="0"/>
              <a:t>From House of Alpha – SEBI Registered IA No: ____</a:t>
            </a:r>
          </a:p>
        </p:txBody>
      </p:sp>
    </p:spTree>
    <p:extLst>
      <p:ext uri="{BB962C8B-B14F-4D97-AF65-F5344CB8AC3E}">
        <p14:creationId xmlns:p14="http://schemas.microsoft.com/office/powerpoint/2010/main" val="2552477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16F98-017F-0FB6-0121-0E808598AA70}"/>
              </a:ext>
            </a:extLst>
          </p:cNvPr>
          <p:cNvSpPr>
            <a:spLocks noGrp="1"/>
          </p:cNvSpPr>
          <p:nvPr>
            <p:ph type="title"/>
          </p:nvPr>
        </p:nvSpPr>
        <p:spPr>
          <a:xfrm>
            <a:off x="629841" y="457200"/>
            <a:ext cx="2949178" cy="784578"/>
          </a:xfrm>
        </p:spPr>
        <p:txBody>
          <a:bodyPr/>
          <a:lstStyle/>
          <a:p>
            <a:r>
              <a:rPr lang="en-US" dirty="0"/>
              <a:t>Video</a:t>
            </a:r>
          </a:p>
        </p:txBody>
      </p:sp>
      <p:sp>
        <p:nvSpPr>
          <p:cNvPr id="4" name="Content Placeholder 3">
            <a:extLst>
              <a:ext uri="{FF2B5EF4-FFF2-40B4-BE49-F238E27FC236}">
                <a16:creationId xmlns:a16="http://schemas.microsoft.com/office/drawing/2014/main" id="{58D71A98-22A9-62C0-B28B-E9A0E511806D}"/>
              </a:ext>
            </a:extLst>
          </p:cNvPr>
          <p:cNvSpPr>
            <a:spLocks noGrp="1"/>
          </p:cNvSpPr>
          <p:nvPr>
            <p:ph idx="1"/>
          </p:nvPr>
        </p:nvSpPr>
        <p:spPr>
          <a:xfrm>
            <a:off x="3978387" y="1252427"/>
            <a:ext cx="4629150" cy="4627210"/>
          </a:xfrm>
        </p:spPr>
        <p:txBody>
          <a:bodyPr/>
          <a:lstStyle/>
          <a:p>
            <a:r>
              <a:rPr lang="en-US" dirty="0"/>
              <a:t>Welcome</a:t>
            </a:r>
          </a:p>
          <a:p>
            <a:r>
              <a:rPr lang="en-US" dirty="0"/>
              <a:t>Quick background for credibility</a:t>
            </a:r>
          </a:p>
          <a:p>
            <a:r>
              <a:rPr lang="en-US" dirty="0"/>
              <a:t>What I can do for you</a:t>
            </a:r>
          </a:p>
          <a:p>
            <a:r>
              <a:rPr lang="en-US" dirty="0"/>
              <a:t>In 4 minutes I can show you…possibility</a:t>
            </a:r>
          </a:p>
          <a:p>
            <a:r>
              <a:rPr lang="en-US" dirty="0"/>
              <a:t>Are you ready?</a:t>
            </a:r>
          </a:p>
        </p:txBody>
      </p:sp>
      <p:sp>
        <p:nvSpPr>
          <p:cNvPr id="5" name="Text Placeholder 4">
            <a:extLst>
              <a:ext uri="{FF2B5EF4-FFF2-40B4-BE49-F238E27FC236}">
                <a16:creationId xmlns:a16="http://schemas.microsoft.com/office/drawing/2014/main" id="{6BB621A7-A360-B2EE-A64C-0A946461E051}"/>
              </a:ext>
            </a:extLst>
          </p:cNvPr>
          <p:cNvSpPr>
            <a:spLocks noGrp="1"/>
          </p:cNvSpPr>
          <p:nvPr>
            <p:ph type="body" sz="half" idx="2"/>
          </p:nvPr>
        </p:nvSpPr>
        <p:spPr>
          <a:xfrm>
            <a:off x="629841" y="1241778"/>
            <a:ext cx="2949178" cy="4627210"/>
          </a:xfrm>
        </p:spPr>
        <p:txBody>
          <a:bodyPr/>
          <a:lstStyle/>
          <a:p>
            <a:endParaRPr lang="en-US" dirty="0"/>
          </a:p>
        </p:txBody>
      </p:sp>
      <p:pic>
        <p:nvPicPr>
          <p:cNvPr id="7" name="Graphic 6" descr="Female Profile outline">
            <a:extLst>
              <a:ext uri="{FF2B5EF4-FFF2-40B4-BE49-F238E27FC236}">
                <a16:creationId xmlns:a16="http://schemas.microsoft.com/office/drawing/2014/main" id="{CDADBD91-E3E7-0E19-D2AE-25C55040A55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0473" y="2079977"/>
            <a:ext cx="3799660" cy="3799660"/>
          </a:xfrm>
          <a:prstGeom prst="rect">
            <a:avLst/>
          </a:prstGeom>
        </p:spPr>
      </p:pic>
    </p:spTree>
    <p:extLst>
      <p:ext uri="{BB962C8B-B14F-4D97-AF65-F5344CB8AC3E}">
        <p14:creationId xmlns:p14="http://schemas.microsoft.com/office/powerpoint/2010/main" val="2213455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CE92E-D670-9319-2E60-D7322E1E14AE}"/>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16A5E3B-9FCC-BEE9-8AE3-5CC18A89806A}"/>
              </a:ext>
            </a:extLst>
          </p:cNvPr>
          <p:cNvSpPr>
            <a:spLocks noGrp="1"/>
          </p:cNvSpPr>
          <p:nvPr>
            <p:ph idx="1"/>
          </p:nvPr>
        </p:nvSpPr>
        <p:spPr>
          <a:xfrm>
            <a:off x="835376" y="271555"/>
            <a:ext cx="7681163" cy="457551"/>
          </a:xfrm>
        </p:spPr>
        <p:txBody>
          <a:bodyPr>
            <a:normAutofit/>
          </a:bodyPr>
          <a:lstStyle/>
          <a:p>
            <a:pPr marL="0" indent="0">
              <a:buNone/>
            </a:pPr>
            <a:r>
              <a:rPr lang="en-US" sz="2000" i="1" dirty="0"/>
              <a:t>What do I call you?</a:t>
            </a:r>
          </a:p>
        </p:txBody>
      </p:sp>
      <p:sp>
        <p:nvSpPr>
          <p:cNvPr id="11" name="Content Placeholder 5">
            <a:extLst>
              <a:ext uri="{FF2B5EF4-FFF2-40B4-BE49-F238E27FC236}">
                <a16:creationId xmlns:a16="http://schemas.microsoft.com/office/drawing/2014/main" id="{CB2EAA63-3E12-94F6-8233-A3697E0340DB}"/>
              </a:ext>
            </a:extLst>
          </p:cNvPr>
          <p:cNvSpPr txBox="1">
            <a:spLocks/>
          </p:cNvSpPr>
          <p:nvPr/>
        </p:nvSpPr>
        <p:spPr>
          <a:xfrm>
            <a:off x="835375" y="1792825"/>
            <a:ext cx="7681163" cy="4575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2000" i="1" dirty="0"/>
              <a:t>How old are you?</a:t>
            </a:r>
          </a:p>
        </p:txBody>
      </p:sp>
      <p:cxnSp>
        <p:nvCxnSpPr>
          <p:cNvPr id="13" name="Straight Connector 12">
            <a:extLst>
              <a:ext uri="{FF2B5EF4-FFF2-40B4-BE49-F238E27FC236}">
                <a16:creationId xmlns:a16="http://schemas.microsoft.com/office/drawing/2014/main" id="{1B479A95-8C20-3569-75C7-45F09A4FBC4E}"/>
              </a:ext>
            </a:extLst>
          </p:cNvPr>
          <p:cNvCxnSpPr/>
          <p:nvPr/>
        </p:nvCxnSpPr>
        <p:spPr>
          <a:xfrm>
            <a:off x="970844" y="1004711"/>
            <a:ext cx="5102578" cy="0"/>
          </a:xfrm>
          <a:prstGeom prst="line">
            <a:avLst/>
          </a:prstGeom>
        </p:spPr>
        <p:style>
          <a:lnRef idx="2">
            <a:schemeClr val="accent1"/>
          </a:lnRef>
          <a:fillRef idx="0">
            <a:schemeClr val="accent1"/>
          </a:fillRef>
          <a:effectRef idx="1">
            <a:schemeClr val="accent1"/>
          </a:effectRef>
          <a:fontRef idx="minor">
            <a:schemeClr val="tx1"/>
          </a:fontRef>
        </p:style>
      </p:cxnSp>
      <p:sp>
        <p:nvSpPr>
          <p:cNvPr id="15" name="Content Placeholder 5">
            <a:extLst>
              <a:ext uri="{FF2B5EF4-FFF2-40B4-BE49-F238E27FC236}">
                <a16:creationId xmlns:a16="http://schemas.microsoft.com/office/drawing/2014/main" id="{D1ED8163-B770-2353-AF68-3A11893079D3}"/>
              </a:ext>
            </a:extLst>
          </p:cNvPr>
          <p:cNvSpPr txBox="1">
            <a:spLocks/>
          </p:cNvSpPr>
          <p:nvPr/>
        </p:nvSpPr>
        <p:spPr>
          <a:xfrm>
            <a:off x="835375" y="1232743"/>
            <a:ext cx="7681163" cy="4575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2000" i="1" dirty="0"/>
              <a:t>Nice meeting you _______</a:t>
            </a:r>
          </a:p>
        </p:txBody>
      </p:sp>
      <p:cxnSp>
        <p:nvCxnSpPr>
          <p:cNvPr id="16" name="Straight Connector 15">
            <a:extLst>
              <a:ext uri="{FF2B5EF4-FFF2-40B4-BE49-F238E27FC236}">
                <a16:creationId xmlns:a16="http://schemas.microsoft.com/office/drawing/2014/main" id="{F7F3FC28-140C-259C-1311-BE567C0DF81A}"/>
              </a:ext>
            </a:extLst>
          </p:cNvPr>
          <p:cNvCxnSpPr/>
          <p:nvPr/>
        </p:nvCxnSpPr>
        <p:spPr>
          <a:xfrm>
            <a:off x="948266" y="2432755"/>
            <a:ext cx="5102578" cy="0"/>
          </a:xfrm>
          <a:prstGeom prst="line">
            <a:avLst/>
          </a:prstGeom>
        </p:spPr>
        <p:style>
          <a:lnRef idx="2">
            <a:schemeClr val="accent1"/>
          </a:lnRef>
          <a:fillRef idx="0">
            <a:schemeClr val="accent1"/>
          </a:fillRef>
          <a:effectRef idx="1">
            <a:schemeClr val="accent1"/>
          </a:effectRef>
          <a:fontRef idx="minor">
            <a:schemeClr val="tx1"/>
          </a:fontRef>
        </p:style>
      </p:cxnSp>
      <p:sp>
        <p:nvSpPr>
          <p:cNvPr id="17" name="Content Placeholder 5">
            <a:extLst>
              <a:ext uri="{FF2B5EF4-FFF2-40B4-BE49-F238E27FC236}">
                <a16:creationId xmlns:a16="http://schemas.microsoft.com/office/drawing/2014/main" id="{4140F33F-810F-FF11-7A5B-E339A8C0D288}"/>
              </a:ext>
            </a:extLst>
          </p:cNvPr>
          <p:cNvSpPr txBox="1">
            <a:spLocks/>
          </p:cNvSpPr>
          <p:nvPr/>
        </p:nvSpPr>
        <p:spPr>
          <a:xfrm>
            <a:off x="835374" y="2632604"/>
            <a:ext cx="7681163" cy="45755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2000" i="1" dirty="0"/>
              <a:t>Got it, Which of these best describes your home right now?</a:t>
            </a:r>
          </a:p>
        </p:txBody>
      </p:sp>
      <p:sp>
        <p:nvSpPr>
          <p:cNvPr id="18" name="Content Placeholder 5">
            <a:extLst>
              <a:ext uri="{FF2B5EF4-FFF2-40B4-BE49-F238E27FC236}">
                <a16:creationId xmlns:a16="http://schemas.microsoft.com/office/drawing/2014/main" id="{12386D50-9C99-E403-52B0-A2864F1DC0F0}"/>
              </a:ext>
            </a:extLst>
          </p:cNvPr>
          <p:cNvSpPr txBox="1">
            <a:spLocks/>
          </p:cNvSpPr>
          <p:nvPr/>
        </p:nvSpPr>
        <p:spPr>
          <a:xfrm>
            <a:off x="835373" y="3192686"/>
            <a:ext cx="7681163" cy="169941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200" dirty="0"/>
              <a:t>Just me</a:t>
            </a:r>
          </a:p>
          <a:p>
            <a:pPr marL="0" indent="0">
              <a:buFont typeface="Arial" panose="020B0604020202020204" pitchFamily="34" charset="0"/>
              <a:buNone/>
            </a:pPr>
            <a:r>
              <a:rPr lang="en-US" sz="1200" dirty="0"/>
              <a:t>Me + partner</a:t>
            </a:r>
          </a:p>
          <a:p>
            <a:pPr marL="0" indent="0">
              <a:buFont typeface="Arial" panose="020B0604020202020204" pitchFamily="34" charset="0"/>
              <a:buNone/>
            </a:pPr>
            <a:r>
              <a:rPr lang="en-US" sz="1200" dirty="0"/>
              <a:t>Me + partner + kids</a:t>
            </a:r>
          </a:p>
          <a:p>
            <a:pPr marL="0" indent="0">
              <a:buFont typeface="Arial" panose="020B0604020202020204" pitchFamily="34" charset="0"/>
              <a:buNone/>
            </a:pPr>
            <a:r>
              <a:rPr lang="en-US" sz="1200" dirty="0"/>
              <a:t>Me + partner + kids + parents</a:t>
            </a:r>
          </a:p>
          <a:p>
            <a:pPr marL="0" indent="0">
              <a:buFont typeface="Arial" panose="020B0604020202020204" pitchFamily="34" charset="0"/>
              <a:buNone/>
            </a:pPr>
            <a:r>
              <a:rPr lang="en-US" sz="1200" dirty="0"/>
              <a:t>Me + parents</a:t>
            </a:r>
          </a:p>
          <a:p>
            <a:pPr marL="0" indent="0">
              <a:buFont typeface="Arial" panose="020B0604020202020204" pitchFamily="34" charset="0"/>
              <a:buNone/>
            </a:pPr>
            <a:r>
              <a:rPr lang="en-US" sz="1200" dirty="0"/>
              <a:t>Me + kids</a:t>
            </a:r>
          </a:p>
        </p:txBody>
      </p:sp>
      <p:sp>
        <p:nvSpPr>
          <p:cNvPr id="19" name="Content Placeholder 5">
            <a:extLst>
              <a:ext uri="{FF2B5EF4-FFF2-40B4-BE49-F238E27FC236}">
                <a16:creationId xmlns:a16="http://schemas.microsoft.com/office/drawing/2014/main" id="{3B05B4CF-1C8D-D5EA-7F6E-2608BD764408}"/>
              </a:ext>
            </a:extLst>
          </p:cNvPr>
          <p:cNvSpPr txBox="1">
            <a:spLocks/>
          </p:cNvSpPr>
          <p:nvPr/>
        </p:nvSpPr>
        <p:spPr>
          <a:xfrm>
            <a:off x="835374" y="5042475"/>
            <a:ext cx="7681163" cy="4575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2000" i="1" dirty="0"/>
              <a:t>Which city do you live in?</a:t>
            </a:r>
          </a:p>
        </p:txBody>
      </p:sp>
      <p:cxnSp>
        <p:nvCxnSpPr>
          <p:cNvPr id="20" name="Straight Connector 19">
            <a:extLst>
              <a:ext uri="{FF2B5EF4-FFF2-40B4-BE49-F238E27FC236}">
                <a16:creationId xmlns:a16="http://schemas.microsoft.com/office/drawing/2014/main" id="{9B0EC301-0CE9-125A-940D-61D189460FDD}"/>
              </a:ext>
            </a:extLst>
          </p:cNvPr>
          <p:cNvCxnSpPr/>
          <p:nvPr/>
        </p:nvCxnSpPr>
        <p:spPr>
          <a:xfrm>
            <a:off x="948266" y="5667021"/>
            <a:ext cx="5102578" cy="0"/>
          </a:xfrm>
          <a:prstGeom prst="line">
            <a:avLst/>
          </a:prstGeom>
        </p:spPr>
        <p:style>
          <a:lnRef idx="2">
            <a:schemeClr val="accent1"/>
          </a:lnRef>
          <a:fillRef idx="0">
            <a:schemeClr val="accent1"/>
          </a:fillRef>
          <a:effectRef idx="1">
            <a:schemeClr val="accent1"/>
          </a:effectRef>
          <a:fontRef idx="minor">
            <a:schemeClr val="tx1"/>
          </a:fontRef>
        </p:style>
      </p:cxnSp>
      <p:sp>
        <p:nvSpPr>
          <p:cNvPr id="21" name="Content Placeholder 5">
            <a:extLst>
              <a:ext uri="{FF2B5EF4-FFF2-40B4-BE49-F238E27FC236}">
                <a16:creationId xmlns:a16="http://schemas.microsoft.com/office/drawing/2014/main" id="{403C98F0-DDE4-A10E-7D86-BD789FB4551A}"/>
              </a:ext>
            </a:extLst>
          </p:cNvPr>
          <p:cNvSpPr txBox="1">
            <a:spLocks/>
          </p:cNvSpPr>
          <p:nvPr/>
        </p:nvSpPr>
        <p:spPr>
          <a:xfrm>
            <a:off x="835373" y="5853289"/>
            <a:ext cx="7681163" cy="8974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800" i="1" dirty="0"/>
              <a:t>Good, now I know who I am talking to. Let’s get a rough sense of the money picture – need not be accurate, </a:t>
            </a:r>
            <a:r>
              <a:rPr lang="en-US" sz="1800" i="1" dirty="0" err="1"/>
              <a:t>jjst</a:t>
            </a:r>
            <a:r>
              <a:rPr lang="en-US" sz="1800" i="1" dirty="0"/>
              <a:t> close enough to see the shape of things</a:t>
            </a:r>
          </a:p>
        </p:txBody>
      </p:sp>
    </p:spTree>
    <p:extLst>
      <p:ext uri="{BB962C8B-B14F-4D97-AF65-F5344CB8AC3E}">
        <p14:creationId xmlns:p14="http://schemas.microsoft.com/office/powerpoint/2010/main" val="3906499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FDCB2DD-A6DD-A3EE-5DCF-652DFB356929}"/>
              </a:ext>
            </a:extLst>
          </p:cNvPr>
          <p:cNvSpPr txBox="1"/>
          <p:nvPr/>
        </p:nvSpPr>
        <p:spPr>
          <a:xfrm>
            <a:off x="666044" y="282222"/>
            <a:ext cx="7247467" cy="369332"/>
          </a:xfrm>
          <a:prstGeom prst="rect">
            <a:avLst/>
          </a:prstGeom>
          <a:noFill/>
        </p:spPr>
        <p:txBody>
          <a:bodyPr wrap="square" rtlCol="0">
            <a:spAutoFit/>
          </a:bodyPr>
          <a:lstStyle/>
          <a:p>
            <a:r>
              <a:rPr lang="en-US" i="1" dirty="0"/>
              <a:t>What is your household’s rough annual income (in INR)?</a:t>
            </a:r>
          </a:p>
        </p:txBody>
      </p:sp>
      <p:sp>
        <p:nvSpPr>
          <p:cNvPr id="6" name="TextBox 5">
            <a:extLst>
              <a:ext uri="{FF2B5EF4-FFF2-40B4-BE49-F238E27FC236}">
                <a16:creationId xmlns:a16="http://schemas.microsoft.com/office/drawing/2014/main" id="{E989DA99-F5E9-CB95-F4CB-A8883FD9A4EB}"/>
              </a:ext>
            </a:extLst>
          </p:cNvPr>
          <p:cNvSpPr txBox="1"/>
          <p:nvPr/>
        </p:nvSpPr>
        <p:spPr>
          <a:xfrm>
            <a:off x="801511" y="925689"/>
            <a:ext cx="1340432" cy="923330"/>
          </a:xfrm>
          <a:prstGeom prst="rect">
            <a:avLst/>
          </a:prstGeom>
          <a:noFill/>
        </p:spPr>
        <p:txBody>
          <a:bodyPr wrap="none" rtlCol="0">
            <a:spAutoFit/>
          </a:bodyPr>
          <a:lstStyle/>
          <a:p>
            <a:r>
              <a:rPr lang="en-US" dirty="0"/>
              <a:t>&lt; 10 lacs</a:t>
            </a:r>
          </a:p>
          <a:p>
            <a:r>
              <a:rPr lang="en-US" dirty="0"/>
              <a:t>10 – 25 lacs</a:t>
            </a:r>
          </a:p>
          <a:p>
            <a:r>
              <a:rPr lang="en-US" dirty="0"/>
              <a:t>25 – 50 lacs</a:t>
            </a:r>
          </a:p>
        </p:txBody>
      </p:sp>
      <p:sp>
        <p:nvSpPr>
          <p:cNvPr id="7" name="TextBox 6">
            <a:extLst>
              <a:ext uri="{FF2B5EF4-FFF2-40B4-BE49-F238E27FC236}">
                <a16:creationId xmlns:a16="http://schemas.microsoft.com/office/drawing/2014/main" id="{BD1E4C3D-4EF3-6C29-6324-98C36D4E4D53}"/>
              </a:ext>
            </a:extLst>
          </p:cNvPr>
          <p:cNvSpPr txBox="1"/>
          <p:nvPr/>
        </p:nvSpPr>
        <p:spPr>
          <a:xfrm>
            <a:off x="3619561" y="925689"/>
            <a:ext cx="1781385" cy="923330"/>
          </a:xfrm>
          <a:prstGeom prst="rect">
            <a:avLst/>
          </a:prstGeom>
          <a:noFill/>
        </p:spPr>
        <p:txBody>
          <a:bodyPr wrap="none" rtlCol="0">
            <a:spAutoFit/>
          </a:bodyPr>
          <a:lstStyle/>
          <a:p>
            <a:r>
              <a:rPr lang="en-US" dirty="0"/>
              <a:t>50 lacs – 1 crore</a:t>
            </a:r>
          </a:p>
          <a:p>
            <a:r>
              <a:rPr lang="en-US" dirty="0"/>
              <a:t>&gt; 1 crore</a:t>
            </a:r>
          </a:p>
          <a:p>
            <a:endParaRPr lang="en-US" dirty="0"/>
          </a:p>
        </p:txBody>
      </p:sp>
      <p:sp>
        <p:nvSpPr>
          <p:cNvPr id="8" name="Rectangle 7">
            <a:extLst>
              <a:ext uri="{FF2B5EF4-FFF2-40B4-BE49-F238E27FC236}">
                <a16:creationId xmlns:a16="http://schemas.microsoft.com/office/drawing/2014/main" id="{22182813-8062-8F72-6ABF-4C414FC04BF8}"/>
              </a:ext>
            </a:extLst>
          </p:cNvPr>
          <p:cNvSpPr/>
          <p:nvPr/>
        </p:nvSpPr>
        <p:spPr>
          <a:xfrm>
            <a:off x="3619561" y="1664353"/>
            <a:ext cx="2257776" cy="369332"/>
          </a:xfrm>
          <a:prstGeom prst="rect">
            <a:avLst/>
          </a:prstGeom>
          <a:noFill/>
          <a:ln>
            <a:solidFill>
              <a:schemeClr val="accent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solidFill>
                  <a:schemeClr val="bg1">
                    <a:lumMod val="50000"/>
                  </a:schemeClr>
                </a:solidFill>
              </a:rPr>
              <a:t>Exact Amount</a:t>
            </a:r>
          </a:p>
        </p:txBody>
      </p:sp>
      <p:sp>
        <p:nvSpPr>
          <p:cNvPr id="9" name="TextBox 8">
            <a:extLst>
              <a:ext uri="{FF2B5EF4-FFF2-40B4-BE49-F238E27FC236}">
                <a16:creationId xmlns:a16="http://schemas.microsoft.com/office/drawing/2014/main" id="{EBF1B3C7-0868-7639-4815-32D9173056CC}"/>
              </a:ext>
            </a:extLst>
          </p:cNvPr>
          <p:cNvSpPr txBox="1"/>
          <p:nvPr/>
        </p:nvSpPr>
        <p:spPr>
          <a:xfrm>
            <a:off x="666044" y="2218351"/>
            <a:ext cx="7247467" cy="369332"/>
          </a:xfrm>
          <a:prstGeom prst="rect">
            <a:avLst/>
          </a:prstGeom>
          <a:noFill/>
        </p:spPr>
        <p:txBody>
          <a:bodyPr wrap="square" rtlCol="0">
            <a:spAutoFit/>
          </a:bodyPr>
          <a:lstStyle/>
          <a:p>
            <a:r>
              <a:rPr lang="en-US" i="1" dirty="0"/>
              <a:t>Ok, I am assuming (mid point of band or 1.2 crores)</a:t>
            </a:r>
          </a:p>
        </p:txBody>
      </p:sp>
      <p:sp>
        <p:nvSpPr>
          <p:cNvPr id="10" name="TextBox 9">
            <a:extLst>
              <a:ext uri="{FF2B5EF4-FFF2-40B4-BE49-F238E27FC236}">
                <a16:creationId xmlns:a16="http://schemas.microsoft.com/office/drawing/2014/main" id="{8A4EBCDA-D823-2277-4EA6-F197EFC7B525}"/>
              </a:ext>
            </a:extLst>
          </p:cNvPr>
          <p:cNvSpPr txBox="1"/>
          <p:nvPr/>
        </p:nvSpPr>
        <p:spPr>
          <a:xfrm>
            <a:off x="666043" y="2677152"/>
            <a:ext cx="7247467" cy="923330"/>
          </a:xfrm>
          <a:prstGeom prst="rect">
            <a:avLst/>
          </a:prstGeom>
          <a:noFill/>
        </p:spPr>
        <p:txBody>
          <a:bodyPr wrap="square" rtlCol="0">
            <a:spAutoFit/>
          </a:bodyPr>
          <a:lstStyle/>
          <a:p>
            <a:r>
              <a:rPr lang="en-US" i="1" dirty="0"/>
              <a:t>Everything you have saved and invested so far -  deposits, mutual funds, EPF, gold, property other than the home you live in – roughly how much would that add up to?</a:t>
            </a:r>
          </a:p>
        </p:txBody>
      </p:sp>
      <p:sp>
        <p:nvSpPr>
          <p:cNvPr id="11" name="TextBox 10">
            <a:extLst>
              <a:ext uri="{FF2B5EF4-FFF2-40B4-BE49-F238E27FC236}">
                <a16:creationId xmlns:a16="http://schemas.microsoft.com/office/drawing/2014/main" id="{F9BE219F-6690-C956-3DEA-CA25FF07D886}"/>
              </a:ext>
            </a:extLst>
          </p:cNvPr>
          <p:cNvSpPr txBox="1"/>
          <p:nvPr/>
        </p:nvSpPr>
        <p:spPr>
          <a:xfrm>
            <a:off x="801511" y="3874617"/>
            <a:ext cx="1781385" cy="923330"/>
          </a:xfrm>
          <a:prstGeom prst="rect">
            <a:avLst/>
          </a:prstGeom>
          <a:noFill/>
        </p:spPr>
        <p:txBody>
          <a:bodyPr wrap="none" rtlCol="0">
            <a:spAutoFit/>
          </a:bodyPr>
          <a:lstStyle/>
          <a:p>
            <a:r>
              <a:rPr lang="en-US" dirty="0"/>
              <a:t>&lt; 5 lacs</a:t>
            </a:r>
          </a:p>
          <a:p>
            <a:r>
              <a:rPr lang="en-US" dirty="0"/>
              <a:t>5 lacs – 25 lacs</a:t>
            </a:r>
          </a:p>
          <a:p>
            <a:r>
              <a:rPr lang="en-US" dirty="0"/>
              <a:t>25 lacs – 1 crore</a:t>
            </a:r>
          </a:p>
        </p:txBody>
      </p:sp>
      <p:sp>
        <p:nvSpPr>
          <p:cNvPr id="12" name="TextBox 11">
            <a:extLst>
              <a:ext uri="{FF2B5EF4-FFF2-40B4-BE49-F238E27FC236}">
                <a16:creationId xmlns:a16="http://schemas.microsoft.com/office/drawing/2014/main" id="{6DF7B38E-3F7C-E57A-4C39-B2807EB6449A}"/>
              </a:ext>
            </a:extLst>
          </p:cNvPr>
          <p:cNvSpPr txBox="1"/>
          <p:nvPr/>
        </p:nvSpPr>
        <p:spPr>
          <a:xfrm>
            <a:off x="3619561" y="3874617"/>
            <a:ext cx="1552156" cy="923330"/>
          </a:xfrm>
          <a:prstGeom prst="rect">
            <a:avLst/>
          </a:prstGeom>
          <a:noFill/>
        </p:spPr>
        <p:txBody>
          <a:bodyPr wrap="none" rtlCol="0">
            <a:spAutoFit/>
          </a:bodyPr>
          <a:lstStyle/>
          <a:p>
            <a:r>
              <a:rPr lang="en-US" dirty="0"/>
              <a:t>1 </a:t>
            </a:r>
            <a:r>
              <a:rPr lang="en-US" dirty="0" err="1"/>
              <a:t>cr</a:t>
            </a:r>
            <a:r>
              <a:rPr lang="en-US" dirty="0"/>
              <a:t> – 5 crores</a:t>
            </a:r>
          </a:p>
          <a:p>
            <a:r>
              <a:rPr lang="en-US" dirty="0"/>
              <a:t>&gt; 5 crores</a:t>
            </a:r>
          </a:p>
          <a:p>
            <a:endParaRPr lang="en-US" dirty="0"/>
          </a:p>
        </p:txBody>
      </p:sp>
      <p:sp>
        <p:nvSpPr>
          <p:cNvPr id="13" name="Rectangle 12">
            <a:extLst>
              <a:ext uri="{FF2B5EF4-FFF2-40B4-BE49-F238E27FC236}">
                <a16:creationId xmlns:a16="http://schemas.microsoft.com/office/drawing/2014/main" id="{19057E9D-1272-8582-6EF5-3F966CA7B134}"/>
              </a:ext>
            </a:extLst>
          </p:cNvPr>
          <p:cNvSpPr/>
          <p:nvPr/>
        </p:nvSpPr>
        <p:spPr>
          <a:xfrm>
            <a:off x="3643545" y="4534259"/>
            <a:ext cx="2257776" cy="369332"/>
          </a:xfrm>
          <a:prstGeom prst="rect">
            <a:avLst/>
          </a:prstGeom>
          <a:noFill/>
          <a:ln>
            <a:solidFill>
              <a:schemeClr val="accent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solidFill>
                  <a:schemeClr val="bg1">
                    <a:lumMod val="50000"/>
                  </a:schemeClr>
                </a:solidFill>
              </a:rPr>
              <a:t>Exact Amount</a:t>
            </a:r>
          </a:p>
        </p:txBody>
      </p:sp>
      <p:sp>
        <p:nvSpPr>
          <p:cNvPr id="15" name="TextBox 14">
            <a:extLst>
              <a:ext uri="{FF2B5EF4-FFF2-40B4-BE49-F238E27FC236}">
                <a16:creationId xmlns:a16="http://schemas.microsoft.com/office/drawing/2014/main" id="{921D528D-FE8D-48B7-836B-46CDEA4C0BC2}"/>
              </a:ext>
            </a:extLst>
          </p:cNvPr>
          <p:cNvSpPr txBox="1"/>
          <p:nvPr/>
        </p:nvSpPr>
        <p:spPr>
          <a:xfrm>
            <a:off x="599716" y="4979749"/>
            <a:ext cx="7313793" cy="369332"/>
          </a:xfrm>
          <a:prstGeom prst="rect">
            <a:avLst/>
          </a:prstGeom>
          <a:noFill/>
        </p:spPr>
        <p:txBody>
          <a:bodyPr wrap="square">
            <a:spAutoFit/>
          </a:bodyPr>
          <a:lstStyle/>
          <a:p>
            <a:r>
              <a:rPr lang="en-US" sz="1800" i="1" dirty="0"/>
              <a:t>Ok, I am assuming (mid point of band or 7 crores)</a:t>
            </a:r>
          </a:p>
        </p:txBody>
      </p:sp>
    </p:spTree>
    <p:extLst>
      <p:ext uri="{BB962C8B-B14F-4D97-AF65-F5344CB8AC3E}">
        <p14:creationId xmlns:p14="http://schemas.microsoft.com/office/powerpoint/2010/main" val="3854836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CB79368-1814-5B00-81D6-DEAABB81B72A}"/>
              </a:ext>
            </a:extLst>
          </p:cNvPr>
          <p:cNvSpPr txBox="1"/>
          <p:nvPr/>
        </p:nvSpPr>
        <p:spPr>
          <a:xfrm>
            <a:off x="542567" y="491994"/>
            <a:ext cx="7247467" cy="646331"/>
          </a:xfrm>
          <a:prstGeom prst="rect">
            <a:avLst/>
          </a:prstGeom>
          <a:noFill/>
        </p:spPr>
        <p:txBody>
          <a:bodyPr wrap="square" rtlCol="0">
            <a:spAutoFit/>
          </a:bodyPr>
          <a:lstStyle/>
          <a:p>
            <a:r>
              <a:rPr lang="en-US" i="1" dirty="0"/>
              <a:t>Of what comes in as income, roughly how much gets saved or invested before you spend?</a:t>
            </a:r>
          </a:p>
        </p:txBody>
      </p:sp>
      <p:sp>
        <p:nvSpPr>
          <p:cNvPr id="3" name="TextBox 2">
            <a:extLst>
              <a:ext uri="{FF2B5EF4-FFF2-40B4-BE49-F238E27FC236}">
                <a16:creationId xmlns:a16="http://schemas.microsoft.com/office/drawing/2014/main" id="{9C7243EA-1EE0-3B60-88E9-0FD333A8AA92}"/>
              </a:ext>
            </a:extLst>
          </p:cNvPr>
          <p:cNvSpPr txBox="1"/>
          <p:nvPr/>
        </p:nvSpPr>
        <p:spPr>
          <a:xfrm>
            <a:off x="688622" y="1456267"/>
            <a:ext cx="5520267" cy="2031325"/>
          </a:xfrm>
          <a:prstGeom prst="rect">
            <a:avLst/>
          </a:prstGeom>
          <a:noFill/>
        </p:spPr>
        <p:txBody>
          <a:bodyPr wrap="square" rtlCol="0">
            <a:spAutoFit/>
          </a:bodyPr>
          <a:lstStyle/>
          <a:p>
            <a:r>
              <a:rPr lang="en-US" dirty="0"/>
              <a:t>Almost nothing – less than 5%</a:t>
            </a:r>
          </a:p>
          <a:p>
            <a:r>
              <a:rPr lang="en-US" dirty="0"/>
              <a:t>Around 10% - small consistent chunks</a:t>
            </a:r>
          </a:p>
          <a:p>
            <a:r>
              <a:rPr lang="en-US" dirty="0"/>
              <a:t>Around 25% - meaningful amounts</a:t>
            </a:r>
          </a:p>
          <a:p>
            <a:r>
              <a:rPr lang="en-US" dirty="0"/>
              <a:t>Around 40% - some serious money</a:t>
            </a:r>
          </a:p>
          <a:p>
            <a:r>
              <a:rPr lang="en-US" dirty="0"/>
              <a:t>More than 40% - I live well below my means</a:t>
            </a:r>
          </a:p>
          <a:p>
            <a:r>
              <a:rPr lang="en-US" dirty="0"/>
              <a:t>Exact % or Amount</a:t>
            </a:r>
          </a:p>
          <a:p>
            <a:endParaRPr lang="en-US" dirty="0"/>
          </a:p>
        </p:txBody>
      </p:sp>
      <p:sp>
        <p:nvSpPr>
          <p:cNvPr id="4" name="TextBox 3">
            <a:extLst>
              <a:ext uri="{FF2B5EF4-FFF2-40B4-BE49-F238E27FC236}">
                <a16:creationId xmlns:a16="http://schemas.microsoft.com/office/drawing/2014/main" id="{5709A079-516A-FEF0-BBCE-6FE70CB5FF3B}"/>
              </a:ext>
            </a:extLst>
          </p:cNvPr>
          <p:cNvSpPr txBox="1"/>
          <p:nvPr/>
        </p:nvSpPr>
        <p:spPr>
          <a:xfrm>
            <a:off x="688622" y="3635950"/>
            <a:ext cx="7247467" cy="923330"/>
          </a:xfrm>
          <a:prstGeom prst="rect">
            <a:avLst/>
          </a:prstGeom>
          <a:noFill/>
        </p:spPr>
        <p:txBody>
          <a:bodyPr wrap="square" rtlCol="0">
            <a:spAutoFit/>
          </a:bodyPr>
          <a:lstStyle/>
          <a:p>
            <a:r>
              <a:rPr lang="en-US" i="1" dirty="0"/>
              <a:t>Okay, this is enough for me to sketch your broad level path. Two last questions – these tell me which version of your future self you would actual want to get to</a:t>
            </a:r>
          </a:p>
        </p:txBody>
      </p:sp>
    </p:spTree>
    <p:extLst>
      <p:ext uri="{BB962C8B-B14F-4D97-AF65-F5344CB8AC3E}">
        <p14:creationId xmlns:p14="http://schemas.microsoft.com/office/powerpoint/2010/main" val="1384233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C922D3-69F7-088D-28EC-66E4018C9DDF}"/>
              </a:ext>
            </a:extLst>
          </p:cNvPr>
          <p:cNvSpPr txBox="1"/>
          <p:nvPr/>
        </p:nvSpPr>
        <p:spPr>
          <a:xfrm>
            <a:off x="632179" y="609600"/>
            <a:ext cx="5895204" cy="369332"/>
          </a:xfrm>
          <a:prstGeom prst="rect">
            <a:avLst/>
          </a:prstGeom>
          <a:noFill/>
        </p:spPr>
        <p:txBody>
          <a:bodyPr wrap="none" rtlCol="0">
            <a:spAutoFit/>
          </a:bodyPr>
          <a:lstStyle/>
          <a:p>
            <a:r>
              <a:rPr lang="en-US" i="1" dirty="0"/>
              <a:t>Looking back @ your money journey so far, how has it felt?</a:t>
            </a:r>
          </a:p>
        </p:txBody>
      </p:sp>
      <p:sp>
        <p:nvSpPr>
          <p:cNvPr id="3" name="TextBox 2">
            <a:extLst>
              <a:ext uri="{FF2B5EF4-FFF2-40B4-BE49-F238E27FC236}">
                <a16:creationId xmlns:a16="http://schemas.microsoft.com/office/drawing/2014/main" id="{22F970C4-8D25-1C6C-4872-4AACE0EC76CF}"/>
              </a:ext>
            </a:extLst>
          </p:cNvPr>
          <p:cNvSpPr txBox="1"/>
          <p:nvPr/>
        </p:nvSpPr>
        <p:spPr>
          <a:xfrm>
            <a:off x="699911" y="1354667"/>
            <a:ext cx="6152445" cy="923330"/>
          </a:xfrm>
          <a:prstGeom prst="rect">
            <a:avLst/>
          </a:prstGeom>
          <a:noFill/>
        </p:spPr>
        <p:txBody>
          <a:bodyPr wrap="square" rtlCol="0">
            <a:spAutoFit/>
          </a:bodyPr>
          <a:lstStyle/>
          <a:p>
            <a:r>
              <a:rPr lang="en-US" dirty="0"/>
              <a:t>Very good – Mostly things have worked out well</a:t>
            </a:r>
          </a:p>
          <a:p>
            <a:r>
              <a:rPr lang="en-US" dirty="0"/>
              <a:t>Some hits &amp; some misses – its been mixed</a:t>
            </a:r>
          </a:p>
          <a:p>
            <a:r>
              <a:rPr lang="en-US" dirty="0"/>
              <a:t>Not so good – I can do better</a:t>
            </a:r>
          </a:p>
        </p:txBody>
      </p:sp>
      <p:sp>
        <p:nvSpPr>
          <p:cNvPr id="4" name="TextBox 3">
            <a:extLst>
              <a:ext uri="{FF2B5EF4-FFF2-40B4-BE49-F238E27FC236}">
                <a16:creationId xmlns:a16="http://schemas.microsoft.com/office/drawing/2014/main" id="{AC1A027B-8536-2BBC-FC71-60E3F53F19C7}"/>
              </a:ext>
            </a:extLst>
          </p:cNvPr>
          <p:cNvSpPr txBox="1"/>
          <p:nvPr/>
        </p:nvSpPr>
        <p:spPr>
          <a:xfrm>
            <a:off x="632179" y="2653732"/>
            <a:ext cx="7241470" cy="369332"/>
          </a:xfrm>
          <a:prstGeom prst="rect">
            <a:avLst/>
          </a:prstGeom>
          <a:noFill/>
        </p:spPr>
        <p:txBody>
          <a:bodyPr wrap="none" rtlCol="0">
            <a:spAutoFit/>
          </a:bodyPr>
          <a:lstStyle/>
          <a:p>
            <a:r>
              <a:rPr lang="en-US" i="1" dirty="0"/>
              <a:t>Okay. When you turn 50 / 65 – which of these would matter most to you?</a:t>
            </a:r>
          </a:p>
        </p:txBody>
      </p:sp>
      <p:sp>
        <p:nvSpPr>
          <p:cNvPr id="5" name="TextBox 4">
            <a:extLst>
              <a:ext uri="{FF2B5EF4-FFF2-40B4-BE49-F238E27FC236}">
                <a16:creationId xmlns:a16="http://schemas.microsoft.com/office/drawing/2014/main" id="{731CF88B-FB16-583F-78CD-BDDDA79F6A9A}"/>
              </a:ext>
            </a:extLst>
          </p:cNvPr>
          <p:cNvSpPr txBox="1"/>
          <p:nvPr/>
        </p:nvSpPr>
        <p:spPr>
          <a:xfrm>
            <a:off x="829733" y="3155245"/>
            <a:ext cx="6152445" cy="1754326"/>
          </a:xfrm>
          <a:prstGeom prst="rect">
            <a:avLst/>
          </a:prstGeom>
          <a:noFill/>
        </p:spPr>
        <p:txBody>
          <a:bodyPr wrap="square" rtlCol="0">
            <a:spAutoFit/>
          </a:bodyPr>
          <a:lstStyle/>
          <a:p>
            <a:r>
              <a:rPr lang="en-US" dirty="0"/>
              <a:t>Choose the work I do – not out of compulsions</a:t>
            </a:r>
          </a:p>
          <a:p>
            <a:r>
              <a:rPr lang="en-US" dirty="0"/>
              <a:t>Take real time off to spend with people I care about</a:t>
            </a:r>
          </a:p>
          <a:p>
            <a:r>
              <a:rPr lang="en-US" dirty="0"/>
              <a:t>Help others in a way that matters without concern about money</a:t>
            </a:r>
          </a:p>
          <a:p>
            <a:r>
              <a:rPr lang="en-US" dirty="0"/>
              <a:t>Never worry about what could go wrong</a:t>
            </a:r>
          </a:p>
          <a:p>
            <a:r>
              <a:rPr lang="en-US" dirty="0"/>
              <a:t>Build something meaningful I can leave behind</a:t>
            </a:r>
          </a:p>
        </p:txBody>
      </p:sp>
      <p:sp>
        <p:nvSpPr>
          <p:cNvPr id="6" name="TextBox 5">
            <a:extLst>
              <a:ext uri="{FF2B5EF4-FFF2-40B4-BE49-F238E27FC236}">
                <a16:creationId xmlns:a16="http://schemas.microsoft.com/office/drawing/2014/main" id="{7C11D53D-2B49-E819-4DA1-CBC89C1966F2}"/>
              </a:ext>
            </a:extLst>
          </p:cNvPr>
          <p:cNvSpPr txBox="1"/>
          <p:nvPr/>
        </p:nvSpPr>
        <p:spPr>
          <a:xfrm>
            <a:off x="699911" y="5161466"/>
            <a:ext cx="6942667" cy="369332"/>
          </a:xfrm>
          <a:prstGeom prst="rect">
            <a:avLst/>
          </a:prstGeom>
          <a:noFill/>
        </p:spPr>
        <p:txBody>
          <a:bodyPr wrap="square" rtlCol="0">
            <a:spAutoFit/>
          </a:bodyPr>
          <a:lstStyle/>
          <a:p>
            <a:r>
              <a:rPr lang="en-US" i="1" dirty="0"/>
              <a:t>Thanks for sharing that. Give me a moment as I sketch your paths</a:t>
            </a:r>
          </a:p>
        </p:txBody>
      </p:sp>
    </p:spTree>
    <p:extLst>
      <p:ext uri="{BB962C8B-B14F-4D97-AF65-F5344CB8AC3E}">
        <p14:creationId xmlns:p14="http://schemas.microsoft.com/office/powerpoint/2010/main" val="930789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E864E43D-7B38-ED2C-FB73-7F2EFEA93802}"/>
              </a:ext>
            </a:extLst>
          </p:cNvPr>
          <p:cNvSpPr/>
          <p:nvPr/>
        </p:nvSpPr>
        <p:spPr>
          <a:xfrm>
            <a:off x="124177" y="553155"/>
            <a:ext cx="4323645" cy="596053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99B07AA1-8464-073C-BE24-24E8C3452355}"/>
              </a:ext>
            </a:extLst>
          </p:cNvPr>
          <p:cNvSpPr/>
          <p:nvPr/>
        </p:nvSpPr>
        <p:spPr>
          <a:xfrm>
            <a:off x="4696178" y="553155"/>
            <a:ext cx="4323645" cy="596053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11E5321-EDA3-FE22-8421-74E6DA6B983C}"/>
              </a:ext>
            </a:extLst>
          </p:cNvPr>
          <p:cNvSpPr txBox="1"/>
          <p:nvPr/>
        </p:nvSpPr>
        <p:spPr>
          <a:xfrm>
            <a:off x="778933" y="869244"/>
            <a:ext cx="2991556" cy="369332"/>
          </a:xfrm>
          <a:prstGeom prst="rect">
            <a:avLst/>
          </a:prstGeom>
          <a:noFill/>
        </p:spPr>
        <p:txBody>
          <a:bodyPr wrap="square" rtlCol="0">
            <a:spAutoFit/>
          </a:bodyPr>
          <a:lstStyle/>
          <a:p>
            <a:r>
              <a:rPr lang="en-US" dirty="0"/>
              <a:t>Current Path Projection</a:t>
            </a:r>
          </a:p>
        </p:txBody>
      </p:sp>
      <p:sp>
        <p:nvSpPr>
          <p:cNvPr id="5" name="TextBox 4">
            <a:extLst>
              <a:ext uri="{FF2B5EF4-FFF2-40B4-BE49-F238E27FC236}">
                <a16:creationId xmlns:a16="http://schemas.microsoft.com/office/drawing/2014/main" id="{AA32516B-7CCD-4E47-30E4-A879E3ED2E94}"/>
              </a:ext>
            </a:extLst>
          </p:cNvPr>
          <p:cNvSpPr txBox="1"/>
          <p:nvPr/>
        </p:nvSpPr>
        <p:spPr>
          <a:xfrm>
            <a:off x="5458177" y="869244"/>
            <a:ext cx="2991556" cy="369332"/>
          </a:xfrm>
          <a:prstGeom prst="rect">
            <a:avLst/>
          </a:prstGeom>
          <a:noFill/>
        </p:spPr>
        <p:txBody>
          <a:bodyPr wrap="square" rtlCol="0">
            <a:spAutoFit/>
          </a:bodyPr>
          <a:lstStyle/>
          <a:p>
            <a:r>
              <a:rPr lang="en-US" dirty="0" err="1"/>
              <a:t>Yeslife</a:t>
            </a:r>
            <a:r>
              <a:rPr lang="en-US" dirty="0"/>
              <a:t> Path Projection</a:t>
            </a:r>
          </a:p>
        </p:txBody>
      </p:sp>
      <p:sp>
        <p:nvSpPr>
          <p:cNvPr id="6" name="TextBox 5">
            <a:extLst>
              <a:ext uri="{FF2B5EF4-FFF2-40B4-BE49-F238E27FC236}">
                <a16:creationId xmlns:a16="http://schemas.microsoft.com/office/drawing/2014/main" id="{FB0A747B-E2EF-A887-26B1-B872E425B776}"/>
              </a:ext>
            </a:extLst>
          </p:cNvPr>
          <p:cNvSpPr txBox="1"/>
          <p:nvPr/>
        </p:nvSpPr>
        <p:spPr>
          <a:xfrm>
            <a:off x="485422" y="1670756"/>
            <a:ext cx="3420534" cy="369332"/>
          </a:xfrm>
          <a:prstGeom prst="rect">
            <a:avLst/>
          </a:prstGeom>
          <a:noFill/>
        </p:spPr>
        <p:txBody>
          <a:bodyPr wrap="square" rtlCol="0">
            <a:spAutoFit/>
          </a:bodyPr>
          <a:lstStyle/>
          <a:p>
            <a:r>
              <a:rPr lang="en-US" dirty="0"/>
              <a:t>Rs. _____ in Built Wealth</a:t>
            </a:r>
          </a:p>
        </p:txBody>
      </p:sp>
      <p:sp>
        <p:nvSpPr>
          <p:cNvPr id="7" name="TextBox 6">
            <a:extLst>
              <a:ext uri="{FF2B5EF4-FFF2-40B4-BE49-F238E27FC236}">
                <a16:creationId xmlns:a16="http://schemas.microsoft.com/office/drawing/2014/main" id="{97D036FB-6F42-FD76-0B41-976768A0E04C}"/>
              </a:ext>
            </a:extLst>
          </p:cNvPr>
          <p:cNvSpPr txBox="1"/>
          <p:nvPr/>
        </p:nvSpPr>
        <p:spPr>
          <a:xfrm>
            <a:off x="491067" y="2287602"/>
            <a:ext cx="3420534" cy="369332"/>
          </a:xfrm>
          <a:prstGeom prst="rect">
            <a:avLst/>
          </a:prstGeom>
          <a:noFill/>
        </p:spPr>
        <p:txBody>
          <a:bodyPr wrap="square" rtlCol="0">
            <a:spAutoFit/>
          </a:bodyPr>
          <a:lstStyle/>
          <a:p>
            <a:r>
              <a:rPr lang="en-US" dirty="0"/>
              <a:t>What this means is…</a:t>
            </a:r>
          </a:p>
        </p:txBody>
      </p:sp>
      <p:sp>
        <p:nvSpPr>
          <p:cNvPr id="8" name="TextBox 7">
            <a:extLst>
              <a:ext uri="{FF2B5EF4-FFF2-40B4-BE49-F238E27FC236}">
                <a16:creationId xmlns:a16="http://schemas.microsoft.com/office/drawing/2014/main" id="{27F45F9B-A8DB-AED5-2DF3-CB0017D6318E}"/>
              </a:ext>
            </a:extLst>
          </p:cNvPr>
          <p:cNvSpPr txBox="1"/>
          <p:nvPr/>
        </p:nvSpPr>
        <p:spPr>
          <a:xfrm>
            <a:off x="587022" y="2867378"/>
            <a:ext cx="3318934" cy="923330"/>
          </a:xfrm>
          <a:prstGeom prst="rect">
            <a:avLst/>
          </a:prstGeom>
          <a:noFill/>
        </p:spPr>
        <p:txBody>
          <a:bodyPr wrap="square" rtlCol="0">
            <a:spAutoFit/>
          </a:bodyPr>
          <a:lstStyle/>
          <a:p>
            <a:r>
              <a:rPr lang="en-US" dirty="0"/>
              <a:t>Choose based on aspirations…</a:t>
            </a:r>
          </a:p>
          <a:p>
            <a:r>
              <a:rPr lang="en-US" dirty="0"/>
              <a:t>Freedom / Family/ Generosity / Security / Legacy</a:t>
            </a:r>
          </a:p>
        </p:txBody>
      </p:sp>
      <p:sp>
        <p:nvSpPr>
          <p:cNvPr id="9" name="TextBox 8">
            <a:extLst>
              <a:ext uri="{FF2B5EF4-FFF2-40B4-BE49-F238E27FC236}">
                <a16:creationId xmlns:a16="http://schemas.microsoft.com/office/drawing/2014/main" id="{EA3958FD-7B65-49E5-03C3-6BACA931AB4C}"/>
              </a:ext>
            </a:extLst>
          </p:cNvPr>
          <p:cNvSpPr txBox="1"/>
          <p:nvPr/>
        </p:nvSpPr>
        <p:spPr>
          <a:xfrm>
            <a:off x="5147733" y="1670756"/>
            <a:ext cx="3420534" cy="369332"/>
          </a:xfrm>
          <a:prstGeom prst="rect">
            <a:avLst/>
          </a:prstGeom>
          <a:noFill/>
        </p:spPr>
        <p:txBody>
          <a:bodyPr wrap="square" rtlCol="0">
            <a:spAutoFit/>
          </a:bodyPr>
          <a:lstStyle/>
          <a:p>
            <a:r>
              <a:rPr lang="en-US" dirty="0"/>
              <a:t>Rs. _____ in Built Wealth</a:t>
            </a:r>
          </a:p>
        </p:txBody>
      </p:sp>
      <p:sp>
        <p:nvSpPr>
          <p:cNvPr id="10" name="TextBox 9">
            <a:extLst>
              <a:ext uri="{FF2B5EF4-FFF2-40B4-BE49-F238E27FC236}">
                <a16:creationId xmlns:a16="http://schemas.microsoft.com/office/drawing/2014/main" id="{D17ECBA6-A70D-B94B-ECFE-BAD4491909DA}"/>
              </a:ext>
            </a:extLst>
          </p:cNvPr>
          <p:cNvSpPr txBox="1"/>
          <p:nvPr/>
        </p:nvSpPr>
        <p:spPr>
          <a:xfrm>
            <a:off x="5029199" y="2367467"/>
            <a:ext cx="3420534" cy="369332"/>
          </a:xfrm>
          <a:prstGeom prst="rect">
            <a:avLst/>
          </a:prstGeom>
          <a:noFill/>
        </p:spPr>
        <p:txBody>
          <a:bodyPr wrap="square" rtlCol="0">
            <a:spAutoFit/>
          </a:bodyPr>
          <a:lstStyle/>
          <a:p>
            <a:r>
              <a:rPr lang="en-US" dirty="0"/>
              <a:t>What this means is…</a:t>
            </a:r>
          </a:p>
        </p:txBody>
      </p:sp>
      <p:sp>
        <p:nvSpPr>
          <p:cNvPr id="11" name="TextBox 10">
            <a:extLst>
              <a:ext uri="{FF2B5EF4-FFF2-40B4-BE49-F238E27FC236}">
                <a16:creationId xmlns:a16="http://schemas.microsoft.com/office/drawing/2014/main" id="{545D21C0-72FE-6FBB-960E-E7EA560362EA}"/>
              </a:ext>
            </a:extLst>
          </p:cNvPr>
          <p:cNvSpPr txBox="1"/>
          <p:nvPr/>
        </p:nvSpPr>
        <p:spPr>
          <a:xfrm>
            <a:off x="5125154" y="2947243"/>
            <a:ext cx="3318934" cy="923330"/>
          </a:xfrm>
          <a:prstGeom prst="rect">
            <a:avLst/>
          </a:prstGeom>
          <a:noFill/>
        </p:spPr>
        <p:txBody>
          <a:bodyPr wrap="square" rtlCol="0">
            <a:spAutoFit/>
          </a:bodyPr>
          <a:lstStyle/>
          <a:p>
            <a:r>
              <a:rPr lang="en-US" dirty="0"/>
              <a:t>Choose based on aspirations…</a:t>
            </a:r>
          </a:p>
          <a:p>
            <a:r>
              <a:rPr lang="en-US" dirty="0"/>
              <a:t>Freedom / Family/ Generosity / Security / Legacy</a:t>
            </a:r>
          </a:p>
        </p:txBody>
      </p:sp>
    </p:spTree>
    <p:extLst>
      <p:ext uri="{BB962C8B-B14F-4D97-AF65-F5344CB8AC3E}">
        <p14:creationId xmlns:p14="http://schemas.microsoft.com/office/powerpoint/2010/main" val="2434160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7305F-A078-7F72-43EE-15E518D6BA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31AD2B-F5FB-35B7-5495-2FCA4A4A1519}"/>
              </a:ext>
            </a:extLst>
          </p:cNvPr>
          <p:cNvSpPr>
            <a:spLocks noGrp="1"/>
          </p:cNvSpPr>
          <p:nvPr>
            <p:ph type="title"/>
          </p:nvPr>
        </p:nvSpPr>
        <p:spPr>
          <a:xfrm>
            <a:off x="629841" y="457200"/>
            <a:ext cx="2949178" cy="784578"/>
          </a:xfrm>
        </p:spPr>
        <p:txBody>
          <a:bodyPr/>
          <a:lstStyle/>
          <a:p>
            <a:r>
              <a:rPr lang="en-US" dirty="0"/>
              <a:t>Video</a:t>
            </a:r>
          </a:p>
        </p:txBody>
      </p:sp>
      <p:sp>
        <p:nvSpPr>
          <p:cNvPr id="4" name="Content Placeholder 3">
            <a:extLst>
              <a:ext uri="{FF2B5EF4-FFF2-40B4-BE49-F238E27FC236}">
                <a16:creationId xmlns:a16="http://schemas.microsoft.com/office/drawing/2014/main" id="{1FFBD1E8-5538-06F8-4449-FDB81AD0FDF4}"/>
              </a:ext>
            </a:extLst>
          </p:cNvPr>
          <p:cNvSpPr>
            <a:spLocks noGrp="1"/>
          </p:cNvSpPr>
          <p:nvPr>
            <p:ph idx="1"/>
          </p:nvPr>
        </p:nvSpPr>
        <p:spPr>
          <a:xfrm>
            <a:off x="3978387" y="1252427"/>
            <a:ext cx="4629150" cy="4627210"/>
          </a:xfrm>
        </p:spPr>
        <p:txBody>
          <a:bodyPr>
            <a:normAutofit fontScale="85000" lnSpcReduction="20000"/>
          </a:bodyPr>
          <a:lstStyle/>
          <a:p>
            <a:r>
              <a:rPr lang="en-US" dirty="0"/>
              <a:t>The difference between these 2 paths is because of the 5 Alpha opportunities that most people do not capitalize on – how much you save, how you allocate, what you choose, when you act, what you pay in costs and taxes. And more importantly take action and be consistent.</a:t>
            </a:r>
          </a:p>
          <a:p>
            <a:br>
              <a:rPr lang="en-US" dirty="0"/>
            </a:br>
            <a:r>
              <a:rPr lang="en-US" dirty="0"/>
              <a:t>Small differences but big impact - Based on real client data or life experiences</a:t>
            </a:r>
          </a:p>
          <a:p>
            <a:endParaRPr lang="en-US" dirty="0"/>
          </a:p>
        </p:txBody>
      </p:sp>
      <p:sp>
        <p:nvSpPr>
          <p:cNvPr id="5" name="Text Placeholder 4">
            <a:extLst>
              <a:ext uri="{FF2B5EF4-FFF2-40B4-BE49-F238E27FC236}">
                <a16:creationId xmlns:a16="http://schemas.microsoft.com/office/drawing/2014/main" id="{0660CF92-4DA9-2DDD-05B9-E7DD372702EB}"/>
              </a:ext>
            </a:extLst>
          </p:cNvPr>
          <p:cNvSpPr>
            <a:spLocks noGrp="1"/>
          </p:cNvSpPr>
          <p:nvPr>
            <p:ph type="body" sz="half" idx="2"/>
          </p:nvPr>
        </p:nvSpPr>
        <p:spPr>
          <a:xfrm>
            <a:off x="629841" y="1241778"/>
            <a:ext cx="2949178" cy="4627210"/>
          </a:xfrm>
        </p:spPr>
        <p:txBody>
          <a:bodyPr/>
          <a:lstStyle/>
          <a:p>
            <a:endParaRPr lang="en-US" dirty="0"/>
          </a:p>
        </p:txBody>
      </p:sp>
      <p:pic>
        <p:nvPicPr>
          <p:cNvPr id="7" name="Graphic 6" descr="Female Profile outline">
            <a:extLst>
              <a:ext uri="{FF2B5EF4-FFF2-40B4-BE49-F238E27FC236}">
                <a16:creationId xmlns:a16="http://schemas.microsoft.com/office/drawing/2014/main" id="{3BC527C1-8377-584E-0174-93894F86E6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0473" y="2079977"/>
            <a:ext cx="3799660" cy="3799660"/>
          </a:xfrm>
          <a:prstGeom prst="rect">
            <a:avLst/>
          </a:prstGeom>
        </p:spPr>
      </p:pic>
    </p:spTree>
    <p:extLst>
      <p:ext uri="{BB962C8B-B14F-4D97-AF65-F5344CB8AC3E}">
        <p14:creationId xmlns:p14="http://schemas.microsoft.com/office/powerpoint/2010/main" val="1151847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836BD-4332-AA12-D46D-4AB1FDA3C1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F3825B-1BA8-8E21-C7AD-95EDF027EE87}"/>
              </a:ext>
            </a:extLst>
          </p:cNvPr>
          <p:cNvSpPr>
            <a:spLocks noGrp="1"/>
          </p:cNvSpPr>
          <p:nvPr>
            <p:ph type="title"/>
          </p:nvPr>
        </p:nvSpPr>
        <p:spPr>
          <a:xfrm>
            <a:off x="629841" y="457200"/>
            <a:ext cx="2949178" cy="784578"/>
          </a:xfrm>
        </p:spPr>
        <p:txBody>
          <a:bodyPr/>
          <a:lstStyle/>
          <a:p>
            <a:r>
              <a:rPr lang="en-US" dirty="0"/>
              <a:t>Video</a:t>
            </a:r>
          </a:p>
        </p:txBody>
      </p:sp>
      <p:sp>
        <p:nvSpPr>
          <p:cNvPr id="4" name="Content Placeholder 3">
            <a:extLst>
              <a:ext uri="{FF2B5EF4-FFF2-40B4-BE49-F238E27FC236}">
                <a16:creationId xmlns:a16="http://schemas.microsoft.com/office/drawing/2014/main" id="{1DA2DF8C-B3F7-C4F0-2C42-2D4F2D502B0F}"/>
              </a:ext>
            </a:extLst>
          </p:cNvPr>
          <p:cNvSpPr>
            <a:spLocks noGrp="1"/>
          </p:cNvSpPr>
          <p:nvPr>
            <p:ph idx="1"/>
          </p:nvPr>
        </p:nvSpPr>
        <p:spPr>
          <a:xfrm>
            <a:off x="3978387" y="1252427"/>
            <a:ext cx="4629150" cy="4627210"/>
          </a:xfrm>
        </p:spPr>
        <p:txBody>
          <a:bodyPr>
            <a:normAutofit fontScale="92500" lnSpcReduction="20000"/>
          </a:bodyPr>
          <a:lstStyle/>
          <a:p>
            <a:r>
              <a:rPr lang="en-US" dirty="0"/>
              <a:t>The exact bridge between where you might get to if you continue doing what you are doing – what you could potentially build – the choices, the right order, the right size specific to your situation is what we build on the other side. It would take about 15 minutes to build and a 60 minutes face to face call to understand and calibrate. Keen?</a:t>
            </a:r>
          </a:p>
          <a:p>
            <a:endParaRPr lang="en-US" dirty="0"/>
          </a:p>
        </p:txBody>
      </p:sp>
      <p:sp>
        <p:nvSpPr>
          <p:cNvPr id="5" name="Text Placeholder 4">
            <a:extLst>
              <a:ext uri="{FF2B5EF4-FFF2-40B4-BE49-F238E27FC236}">
                <a16:creationId xmlns:a16="http://schemas.microsoft.com/office/drawing/2014/main" id="{AA7B9CCB-92A3-7D1A-208A-27AD43636D40}"/>
              </a:ext>
            </a:extLst>
          </p:cNvPr>
          <p:cNvSpPr>
            <a:spLocks noGrp="1"/>
          </p:cNvSpPr>
          <p:nvPr>
            <p:ph type="body" sz="half" idx="2"/>
          </p:nvPr>
        </p:nvSpPr>
        <p:spPr>
          <a:xfrm>
            <a:off x="629841" y="1241778"/>
            <a:ext cx="2949178" cy="4627210"/>
          </a:xfrm>
        </p:spPr>
        <p:txBody>
          <a:bodyPr/>
          <a:lstStyle/>
          <a:p>
            <a:endParaRPr lang="en-US" dirty="0"/>
          </a:p>
        </p:txBody>
      </p:sp>
      <p:pic>
        <p:nvPicPr>
          <p:cNvPr id="7" name="Graphic 6" descr="Female Profile outline">
            <a:extLst>
              <a:ext uri="{FF2B5EF4-FFF2-40B4-BE49-F238E27FC236}">
                <a16:creationId xmlns:a16="http://schemas.microsoft.com/office/drawing/2014/main" id="{5E5680F6-0AEF-2B0E-5DE2-D50C78D6A64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0473" y="2079977"/>
            <a:ext cx="3799660" cy="3799660"/>
          </a:xfrm>
          <a:prstGeom prst="rect">
            <a:avLst/>
          </a:prstGeom>
        </p:spPr>
      </p:pic>
    </p:spTree>
    <p:extLst>
      <p:ext uri="{BB962C8B-B14F-4D97-AF65-F5344CB8AC3E}">
        <p14:creationId xmlns:p14="http://schemas.microsoft.com/office/powerpoint/2010/main" val="2647281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1F2DE-CF33-E9AF-9D82-4B1AE4EDF774}"/>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BC45BCC-CAE5-1958-C2F7-C14B47DE218C}"/>
              </a:ext>
            </a:extLst>
          </p:cNvPr>
          <p:cNvSpPr>
            <a:spLocks noGrp="1"/>
          </p:cNvSpPr>
          <p:nvPr>
            <p:ph idx="1"/>
          </p:nvPr>
        </p:nvSpPr>
        <p:spPr>
          <a:xfrm>
            <a:off x="733778" y="597672"/>
            <a:ext cx="7907626" cy="610240"/>
          </a:xfrm>
        </p:spPr>
        <p:txBody>
          <a:bodyPr>
            <a:normAutofit/>
          </a:bodyPr>
          <a:lstStyle/>
          <a:p>
            <a:pPr marL="0" indent="0">
              <a:buNone/>
            </a:pPr>
            <a:r>
              <a:rPr lang="en-US" dirty="0"/>
              <a:t>Here is what it would look like..</a:t>
            </a:r>
          </a:p>
          <a:p>
            <a:endParaRPr lang="en-US" dirty="0"/>
          </a:p>
        </p:txBody>
      </p:sp>
      <p:sp>
        <p:nvSpPr>
          <p:cNvPr id="14" name="TextBox 13">
            <a:extLst>
              <a:ext uri="{FF2B5EF4-FFF2-40B4-BE49-F238E27FC236}">
                <a16:creationId xmlns:a16="http://schemas.microsoft.com/office/drawing/2014/main" id="{49407A55-D3D9-2F8E-B48D-66D1709B9200}"/>
              </a:ext>
            </a:extLst>
          </p:cNvPr>
          <p:cNvSpPr txBox="1"/>
          <p:nvPr/>
        </p:nvSpPr>
        <p:spPr>
          <a:xfrm>
            <a:off x="2573867" y="5531556"/>
            <a:ext cx="3589866" cy="369332"/>
          </a:xfrm>
          <a:prstGeom prst="rect">
            <a:avLst/>
          </a:prstGeom>
          <a:noFill/>
        </p:spPr>
        <p:txBody>
          <a:bodyPr wrap="square" rtlCol="0">
            <a:spAutoFit/>
          </a:bodyPr>
          <a:lstStyle/>
          <a:p>
            <a:pPr algn="ctr"/>
            <a:r>
              <a:rPr lang="en-US" dirty="0"/>
              <a:t>UNLOCK MY PLAN</a:t>
            </a:r>
          </a:p>
        </p:txBody>
      </p:sp>
    </p:spTree>
    <p:extLst>
      <p:ext uri="{BB962C8B-B14F-4D97-AF65-F5344CB8AC3E}">
        <p14:creationId xmlns:p14="http://schemas.microsoft.com/office/powerpoint/2010/main" val="3624040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5EE88E7D-5E61-A250-90CD-CE6AAA002A60}"/>
              </a:ext>
            </a:extLst>
          </p:cNvPr>
          <p:cNvSpPr>
            <a:spLocks noGrp="1"/>
          </p:cNvSpPr>
          <p:nvPr>
            <p:ph type="body" idx="1"/>
          </p:nvPr>
        </p:nvSpPr>
        <p:spPr>
          <a:xfrm>
            <a:off x="629842" y="857251"/>
            <a:ext cx="3868340" cy="823912"/>
          </a:xfrm>
        </p:spPr>
        <p:txBody>
          <a:bodyPr/>
          <a:lstStyle/>
          <a:p>
            <a:r>
              <a:rPr lang="en-US" dirty="0" err="1"/>
              <a:t>Yeslyf</a:t>
            </a:r>
            <a:r>
              <a:rPr lang="en-US" dirty="0"/>
              <a:t> Membership</a:t>
            </a:r>
          </a:p>
        </p:txBody>
      </p:sp>
      <p:sp>
        <p:nvSpPr>
          <p:cNvPr id="7" name="Content Placeholder 6">
            <a:extLst>
              <a:ext uri="{FF2B5EF4-FFF2-40B4-BE49-F238E27FC236}">
                <a16:creationId xmlns:a16="http://schemas.microsoft.com/office/drawing/2014/main" id="{7D9BEA58-6E57-BF35-8C71-82436565AC7D}"/>
              </a:ext>
            </a:extLst>
          </p:cNvPr>
          <p:cNvSpPr>
            <a:spLocks noGrp="1"/>
          </p:cNvSpPr>
          <p:nvPr>
            <p:ph sz="half" idx="2"/>
          </p:nvPr>
        </p:nvSpPr>
        <p:spPr>
          <a:xfrm>
            <a:off x="428978" y="2326392"/>
            <a:ext cx="4069204" cy="3684588"/>
          </a:xfrm>
        </p:spPr>
        <p:txBody>
          <a:bodyPr>
            <a:normAutofit fontScale="62500" lnSpcReduction="20000"/>
          </a:bodyPr>
          <a:lstStyle/>
          <a:p>
            <a:r>
              <a:rPr lang="en-IN" dirty="0"/>
              <a:t>Your full plan, refreshed as your life and changes, with a check-in every quarter. Cancel any time.</a:t>
            </a:r>
          </a:p>
          <a:p>
            <a:pPr lvl="0"/>
            <a:r>
              <a:rPr lang="en-IN" dirty="0"/>
              <a:t>Full financial plan built for your specific numbers</a:t>
            </a:r>
          </a:p>
          <a:p>
            <a:pPr lvl="0"/>
            <a:r>
              <a:rPr lang="en-IN" dirty="0"/>
              <a:t>Named human advisor who knows your file</a:t>
            </a:r>
          </a:p>
          <a:p>
            <a:pPr lvl="0"/>
            <a:r>
              <a:rPr lang="en-IN" dirty="0"/>
              <a:t>Quarterly review - your plan adapts as your life moves</a:t>
            </a:r>
          </a:p>
          <a:p>
            <a:pPr lvl="0"/>
            <a:r>
              <a:rPr lang="en-IN" dirty="0"/>
              <a:t>Ongoing support in case of any change in personal or market conditions</a:t>
            </a:r>
          </a:p>
          <a:p>
            <a:pPr lvl="0"/>
            <a:r>
              <a:rPr lang="en-IN" dirty="0"/>
              <a:t>Your progress measured every quarter</a:t>
            </a:r>
          </a:p>
          <a:p>
            <a:endParaRPr lang="en-US" dirty="0"/>
          </a:p>
        </p:txBody>
      </p:sp>
      <p:sp>
        <p:nvSpPr>
          <p:cNvPr id="8" name="Text Placeholder 7">
            <a:extLst>
              <a:ext uri="{FF2B5EF4-FFF2-40B4-BE49-F238E27FC236}">
                <a16:creationId xmlns:a16="http://schemas.microsoft.com/office/drawing/2014/main" id="{EC0AE5FB-BE33-1BDF-5EA6-5C6D052468D4}"/>
              </a:ext>
            </a:extLst>
          </p:cNvPr>
          <p:cNvSpPr>
            <a:spLocks noGrp="1"/>
          </p:cNvSpPr>
          <p:nvPr>
            <p:ph type="body" sz="quarter" idx="3"/>
          </p:nvPr>
        </p:nvSpPr>
        <p:spPr>
          <a:xfrm>
            <a:off x="4916754" y="856370"/>
            <a:ext cx="3887391" cy="823912"/>
          </a:xfrm>
        </p:spPr>
        <p:txBody>
          <a:bodyPr/>
          <a:lstStyle/>
          <a:p>
            <a:r>
              <a:rPr lang="en-US" dirty="0" err="1"/>
              <a:t>Yeslyf</a:t>
            </a:r>
            <a:r>
              <a:rPr lang="en-US" dirty="0"/>
              <a:t> Plan</a:t>
            </a:r>
          </a:p>
        </p:txBody>
      </p:sp>
      <p:sp>
        <p:nvSpPr>
          <p:cNvPr id="9" name="Content Placeholder 8">
            <a:extLst>
              <a:ext uri="{FF2B5EF4-FFF2-40B4-BE49-F238E27FC236}">
                <a16:creationId xmlns:a16="http://schemas.microsoft.com/office/drawing/2014/main" id="{9A779F52-E55C-AA44-D851-9FB17F42C12B}"/>
              </a:ext>
            </a:extLst>
          </p:cNvPr>
          <p:cNvSpPr>
            <a:spLocks noGrp="1"/>
          </p:cNvSpPr>
          <p:nvPr>
            <p:ph sz="quarter" idx="4"/>
          </p:nvPr>
        </p:nvSpPr>
        <p:spPr>
          <a:xfrm>
            <a:off x="4629150" y="2505075"/>
            <a:ext cx="3887391" cy="3331281"/>
          </a:xfrm>
        </p:spPr>
        <p:txBody>
          <a:bodyPr>
            <a:normAutofit fontScale="62500" lnSpcReduction="20000"/>
          </a:bodyPr>
          <a:lstStyle/>
          <a:p>
            <a:r>
              <a:rPr lang="en-IN" dirty="0"/>
              <a:t>Your full plan, delivered once. No ongoing check-ins.</a:t>
            </a:r>
          </a:p>
          <a:p>
            <a:pPr lvl="0"/>
            <a:r>
              <a:rPr lang="en-IN" dirty="0"/>
              <a:t>Full financial plan built for your specific numbers</a:t>
            </a:r>
          </a:p>
          <a:p>
            <a:pPr lvl="0"/>
            <a:r>
              <a:rPr lang="en-IN" dirty="0"/>
              <a:t>Delivered by a named advisor, in one 45-minute session</a:t>
            </a:r>
          </a:p>
          <a:p>
            <a:pPr lvl="0"/>
            <a:r>
              <a:rPr lang="en-IN" dirty="0"/>
              <a:t>The plan is yours - but it doesn't update as your life does</a:t>
            </a:r>
          </a:p>
          <a:p>
            <a:r>
              <a:rPr lang="en-IN" i="1" dirty="0"/>
              <a:t>Start the monthly membership within 60 days and get this one time fee paid as credit against subscription fee payable</a:t>
            </a:r>
          </a:p>
        </p:txBody>
      </p:sp>
      <p:sp>
        <p:nvSpPr>
          <p:cNvPr id="11" name="TextBox 10">
            <a:extLst>
              <a:ext uri="{FF2B5EF4-FFF2-40B4-BE49-F238E27FC236}">
                <a16:creationId xmlns:a16="http://schemas.microsoft.com/office/drawing/2014/main" id="{C0AAA431-F622-615D-5933-2F52CEC19243}"/>
              </a:ext>
            </a:extLst>
          </p:cNvPr>
          <p:cNvSpPr txBox="1"/>
          <p:nvPr/>
        </p:nvSpPr>
        <p:spPr>
          <a:xfrm>
            <a:off x="629842" y="1680282"/>
            <a:ext cx="2914869" cy="523220"/>
          </a:xfrm>
          <a:prstGeom prst="rect">
            <a:avLst/>
          </a:prstGeom>
          <a:noFill/>
        </p:spPr>
        <p:txBody>
          <a:bodyPr wrap="square">
            <a:spAutoFit/>
          </a:bodyPr>
          <a:lstStyle/>
          <a:p>
            <a:r>
              <a:rPr lang="en-IN" sz="2800" b="0" i="1" dirty="0">
                <a:solidFill>
                  <a:srgbClr val="0070C0"/>
                </a:solidFill>
                <a:effectLst/>
                <a:latin typeface="+mn-lt"/>
              </a:rPr>
              <a:t>₹799 / month</a:t>
            </a:r>
            <a:endParaRPr lang="en-US" sz="2800" i="1" dirty="0">
              <a:solidFill>
                <a:srgbClr val="0070C0"/>
              </a:solidFill>
            </a:endParaRPr>
          </a:p>
        </p:txBody>
      </p:sp>
      <p:sp>
        <p:nvSpPr>
          <p:cNvPr id="12" name="TextBox 11">
            <a:extLst>
              <a:ext uri="{FF2B5EF4-FFF2-40B4-BE49-F238E27FC236}">
                <a16:creationId xmlns:a16="http://schemas.microsoft.com/office/drawing/2014/main" id="{B7F2FC9B-734A-7523-5D92-DD8B26226C61}"/>
              </a:ext>
            </a:extLst>
          </p:cNvPr>
          <p:cNvSpPr txBox="1"/>
          <p:nvPr/>
        </p:nvSpPr>
        <p:spPr>
          <a:xfrm>
            <a:off x="4821061" y="1680282"/>
            <a:ext cx="2914869" cy="523220"/>
          </a:xfrm>
          <a:prstGeom prst="rect">
            <a:avLst/>
          </a:prstGeom>
          <a:noFill/>
        </p:spPr>
        <p:txBody>
          <a:bodyPr wrap="square">
            <a:spAutoFit/>
          </a:bodyPr>
          <a:lstStyle/>
          <a:p>
            <a:r>
              <a:rPr lang="en-IN" sz="2800" b="0" i="1" dirty="0">
                <a:solidFill>
                  <a:srgbClr val="0070C0"/>
                </a:solidFill>
                <a:effectLst/>
                <a:latin typeface="+mn-lt"/>
              </a:rPr>
              <a:t>₹3499/- one time</a:t>
            </a:r>
            <a:endParaRPr lang="en-US" sz="2800" i="1" dirty="0">
              <a:solidFill>
                <a:srgbClr val="0070C0"/>
              </a:solidFill>
            </a:endParaRPr>
          </a:p>
        </p:txBody>
      </p:sp>
      <p:sp>
        <p:nvSpPr>
          <p:cNvPr id="14" name="TextBox 13">
            <a:extLst>
              <a:ext uri="{FF2B5EF4-FFF2-40B4-BE49-F238E27FC236}">
                <a16:creationId xmlns:a16="http://schemas.microsoft.com/office/drawing/2014/main" id="{54580FF2-A4D9-95D5-C35B-DDE0F25E98D7}"/>
              </a:ext>
            </a:extLst>
          </p:cNvPr>
          <p:cNvSpPr txBox="1"/>
          <p:nvPr/>
        </p:nvSpPr>
        <p:spPr>
          <a:xfrm>
            <a:off x="1286933" y="6189663"/>
            <a:ext cx="7315200" cy="646331"/>
          </a:xfrm>
          <a:prstGeom prst="rect">
            <a:avLst/>
          </a:prstGeom>
          <a:noFill/>
        </p:spPr>
        <p:txBody>
          <a:bodyPr wrap="square" rtlCol="0">
            <a:spAutoFit/>
          </a:bodyPr>
          <a:lstStyle/>
          <a:p>
            <a:pPr algn="ctr"/>
            <a:r>
              <a:rPr lang="en-US" i="1" dirty="0"/>
              <a:t>Not sure yet? Read our FAQs, check out our community, take a day. This page will still be here</a:t>
            </a:r>
          </a:p>
        </p:txBody>
      </p:sp>
    </p:spTree>
    <p:extLst>
      <p:ext uri="{BB962C8B-B14F-4D97-AF65-F5344CB8AC3E}">
        <p14:creationId xmlns:p14="http://schemas.microsoft.com/office/powerpoint/2010/main" val="1784826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A350CE7-9A4F-5626-95FE-48433061A536}"/>
              </a:ext>
            </a:extLst>
          </p:cNvPr>
          <p:cNvSpPr txBox="1"/>
          <p:nvPr/>
        </p:nvSpPr>
        <p:spPr>
          <a:xfrm>
            <a:off x="1343378" y="846668"/>
            <a:ext cx="6829778" cy="3970318"/>
          </a:xfrm>
          <a:prstGeom prst="rect">
            <a:avLst/>
          </a:prstGeom>
          <a:noFill/>
        </p:spPr>
        <p:txBody>
          <a:bodyPr wrap="square" rtlCol="0">
            <a:spAutoFit/>
          </a:bodyPr>
          <a:lstStyle/>
          <a:p>
            <a:r>
              <a:rPr lang="en-US" dirty="0"/>
              <a:t>Drop off protection :</a:t>
            </a:r>
            <a:br>
              <a:rPr lang="en-US" dirty="0"/>
            </a:br>
            <a:r>
              <a:rPr lang="en-US" dirty="0"/>
              <a:t>Save my Progress in all pages</a:t>
            </a:r>
          </a:p>
          <a:p>
            <a:r>
              <a:rPr lang="en-US" dirty="0"/>
              <a:t>Ping – You started your </a:t>
            </a:r>
            <a:r>
              <a:rPr lang="en-US" dirty="0" err="1"/>
              <a:t>Yeslyf</a:t>
            </a:r>
            <a:r>
              <a:rPr lang="en-US" dirty="0"/>
              <a:t> reveal but didn’t finish – 90 seconds left. Continue?</a:t>
            </a:r>
          </a:p>
          <a:p>
            <a:endParaRPr lang="en-US" dirty="0"/>
          </a:p>
          <a:p>
            <a:r>
              <a:rPr lang="en-US" dirty="0"/>
              <a:t>In case of Reveal seen – not paid</a:t>
            </a:r>
          </a:p>
          <a:p>
            <a:endParaRPr lang="en-US" dirty="0"/>
          </a:p>
          <a:p>
            <a:r>
              <a:rPr lang="en-US" dirty="0"/>
              <a:t>Day 1 – When returning to the app – Reveal saved – Ready for the next step?</a:t>
            </a:r>
          </a:p>
          <a:p>
            <a:endParaRPr lang="en-US" dirty="0"/>
          </a:p>
          <a:p>
            <a:r>
              <a:rPr lang="en-US" dirty="0"/>
              <a:t>Day 3 – Nudge with a specific insight based on data collected</a:t>
            </a:r>
          </a:p>
          <a:p>
            <a:endParaRPr lang="en-US" dirty="0"/>
          </a:p>
          <a:p>
            <a:r>
              <a:rPr lang="en-US" dirty="0"/>
              <a:t>Day 7 – Soft nudge with client testimonials and paywall details</a:t>
            </a:r>
          </a:p>
          <a:p>
            <a:endParaRPr lang="en-US" dirty="0"/>
          </a:p>
        </p:txBody>
      </p:sp>
    </p:spTree>
    <p:extLst>
      <p:ext uri="{BB962C8B-B14F-4D97-AF65-F5344CB8AC3E}">
        <p14:creationId xmlns:p14="http://schemas.microsoft.com/office/powerpoint/2010/main" val="2670213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CDE48-30E7-9841-EB2A-E605133E82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8626D8-54DA-C18B-92FC-B32A7DED20AD}"/>
              </a:ext>
            </a:extLst>
          </p:cNvPr>
          <p:cNvSpPr txBox="1"/>
          <p:nvPr/>
        </p:nvSpPr>
        <p:spPr>
          <a:xfrm>
            <a:off x="1772356" y="891822"/>
            <a:ext cx="5712177" cy="584775"/>
          </a:xfrm>
          <a:prstGeom prst="rect">
            <a:avLst/>
          </a:prstGeom>
          <a:noFill/>
        </p:spPr>
        <p:txBody>
          <a:bodyPr wrap="square" rtlCol="0">
            <a:spAutoFit/>
          </a:bodyPr>
          <a:lstStyle/>
          <a:p>
            <a:r>
              <a:rPr lang="en-US" sz="3200" dirty="0"/>
              <a:t>POST PAYWALL JOURNEY</a:t>
            </a:r>
          </a:p>
        </p:txBody>
      </p:sp>
      <p:sp>
        <p:nvSpPr>
          <p:cNvPr id="4" name="TextBox 3">
            <a:extLst>
              <a:ext uri="{FF2B5EF4-FFF2-40B4-BE49-F238E27FC236}">
                <a16:creationId xmlns:a16="http://schemas.microsoft.com/office/drawing/2014/main" id="{58D2E108-5170-ED78-1C70-37F0D07B33A4}"/>
              </a:ext>
            </a:extLst>
          </p:cNvPr>
          <p:cNvSpPr txBox="1"/>
          <p:nvPr/>
        </p:nvSpPr>
        <p:spPr>
          <a:xfrm>
            <a:off x="914400" y="2083641"/>
            <a:ext cx="7817555" cy="1200329"/>
          </a:xfrm>
          <a:prstGeom prst="rect">
            <a:avLst/>
          </a:prstGeom>
          <a:noFill/>
        </p:spPr>
        <p:txBody>
          <a:bodyPr wrap="square">
            <a:spAutoFit/>
          </a:bodyPr>
          <a:lstStyle/>
          <a:p>
            <a:r>
              <a:rPr lang="en-IN" sz="1800" b="0" i="1" dirty="0">
                <a:solidFill>
                  <a:schemeClr val="tx1"/>
                </a:solidFill>
                <a:effectLst/>
                <a:latin typeface="+mn-lt"/>
              </a:rPr>
              <a:t>You're in. Welcome to </a:t>
            </a:r>
            <a:r>
              <a:rPr lang="en-IN" sz="1800" b="0" i="1" dirty="0" err="1">
                <a:solidFill>
                  <a:schemeClr val="tx1"/>
                </a:solidFill>
                <a:effectLst/>
                <a:latin typeface="+mn-lt"/>
              </a:rPr>
              <a:t>Yeslyf</a:t>
            </a:r>
            <a:r>
              <a:rPr lang="en-IN" sz="1800" b="0" i="1" dirty="0">
                <a:solidFill>
                  <a:schemeClr val="tx1"/>
                </a:solidFill>
                <a:effectLst/>
                <a:latin typeface="+mn-lt"/>
              </a:rPr>
              <a:t>. </a:t>
            </a:r>
          </a:p>
          <a:p>
            <a:r>
              <a:rPr lang="en-IN" sz="1800" b="0" i="1" dirty="0">
                <a:solidFill>
                  <a:schemeClr val="tx1"/>
                </a:solidFill>
                <a:effectLst/>
                <a:latin typeface="+mn-lt"/>
              </a:rPr>
              <a:t>Thanks for trusting us to partner with on this.</a:t>
            </a:r>
          </a:p>
          <a:p>
            <a:r>
              <a:rPr lang="en-IN" i="1" dirty="0"/>
              <a:t>Meet your adviser</a:t>
            </a:r>
            <a:endParaRPr lang="en-IN" sz="1800" b="0" i="1" dirty="0">
              <a:solidFill>
                <a:schemeClr val="tx1"/>
              </a:solidFill>
              <a:effectLst/>
              <a:latin typeface="+mn-lt"/>
            </a:endParaRPr>
          </a:p>
          <a:p>
            <a:endParaRPr lang="en-IN" i="1" dirty="0"/>
          </a:p>
        </p:txBody>
      </p:sp>
      <p:sp>
        <p:nvSpPr>
          <p:cNvPr id="6" name="Rounded Rectangle 5">
            <a:extLst>
              <a:ext uri="{FF2B5EF4-FFF2-40B4-BE49-F238E27FC236}">
                <a16:creationId xmlns:a16="http://schemas.microsoft.com/office/drawing/2014/main" id="{D6B21427-3997-9758-8C3F-4BAFBF7E500D}"/>
              </a:ext>
            </a:extLst>
          </p:cNvPr>
          <p:cNvSpPr/>
          <p:nvPr/>
        </p:nvSpPr>
        <p:spPr>
          <a:xfrm>
            <a:off x="914400" y="3429000"/>
            <a:ext cx="3409244" cy="310726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8D4D19FE-EA44-5224-CC93-D1D29A513EBE}"/>
              </a:ext>
            </a:extLst>
          </p:cNvPr>
          <p:cNvSpPr/>
          <p:nvPr/>
        </p:nvSpPr>
        <p:spPr>
          <a:xfrm>
            <a:off x="4938889" y="3428999"/>
            <a:ext cx="3409244" cy="310726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2791CBC-4C9D-43B7-AB8B-B37A2D79B73A}"/>
              </a:ext>
            </a:extLst>
          </p:cNvPr>
          <p:cNvSpPr txBox="1"/>
          <p:nvPr/>
        </p:nvSpPr>
        <p:spPr>
          <a:xfrm>
            <a:off x="5249333" y="3706348"/>
            <a:ext cx="2494845" cy="2308324"/>
          </a:xfrm>
          <a:prstGeom prst="rect">
            <a:avLst/>
          </a:prstGeom>
          <a:noFill/>
        </p:spPr>
        <p:txBody>
          <a:bodyPr wrap="square" rtlCol="0">
            <a:spAutoFit/>
          </a:bodyPr>
          <a:lstStyle/>
          <a:p>
            <a:r>
              <a:rPr lang="en-US" dirty="0"/>
              <a:t>Meet Priya, Certified Financial Planner</a:t>
            </a:r>
            <a:br>
              <a:rPr lang="en-US" dirty="0"/>
            </a:br>
            <a:r>
              <a:rPr lang="en-US" dirty="0"/>
              <a:t>3 years in financial services</a:t>
            </a:r>
          </a:p>
          <a:p>
            <a:r>
              <a:rPr lang="en-US" dirty="0"/>
              <a:t>Specializes in working with salaried, mid life professionals and their families</a:t>
            </a:r>
          </a:p>
        </p:txBody>
      </p:sp>
      <p:pic>
        <p:nvPicPr>
          <p:cNvPr id="10" name="Graphic 9" descr="Female Profile outline">
            <a:extLst>
              <a:ext uri="{FF2B5EF4-FFF2-40B4-BE49-F238E27FC236}">
                <a16:creationId xmlns:a16="http://schemas.microsoft.com/office/drawing/2014/main" id="{14E3DBB3-00B4-828A-97FC-6749EE645E3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4405" y="3495597"/>
            <a:ext cx="2992581" cy="2992581"/>
          </a:xfrm>
          <a:prstGeom prst="rect">
            <a:avLst/>
          </a:prstGeom>
        </p:spPr>
      </p:pic>
    </p:spTree>
    <p:extLst>
      <p:ext uri="{BB962C8B-B14F-4D97-AF65-F5344CB8AC3E}">
        <p14:creationId xmlns:p14="http://schemas.microsoft.com/office/powerpoint/2010/main" val="141764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FD29E1-CF46-3378-1CA4-E623F45B7129}"/>
              </a:ext>
            </a:extLst>
          </p:cNvPr>
          <p:cNvSpPr txBox="1"/>
          <p:nvPr/>
        </p:nvSpPr>
        <p:spPr>
          <a:xfrm>
            <a:off x="1080655" y="831273"/>
            <a:ext cx="6056415" cy="461665"/>
          </a:xfrm>
          <a:prstGeom prst="rect">
            <a:avLst/>
          </a:prstGeom>
          <a:noFill/>
        </p:spPr>
        <p:txBody>
          <a:bodyPr wrap="square" rtlCol="0">
            <a:spAutoFit/>
          </a:bodyPr>
          <a:lstStyle/>
          <a:p>
            <a:r>
              <a:rPr lang="en-US" sz="2400" dirty="0"/>
              <a:t>Your Next 3 Steps – Video Instructions</a:t>
            </a:r>
          </a:p>
        </p:txBody>
      </p:sp>
      <p:sp>
        <p:nvSpPr>
          <p:cNvPr id="3" name="TextBox 2">
            <a:extLst>
              <a:ext uri="{FF2B5EF4-FFF2-40B4-BE49-F238E27FC236}">
                <a16:creationId xmlns:a16="http://schemas.microsoft.com/office/drawing/2014/main" id="{5D502C14-63A3-3213-7757-013C81BFC398}"/>
              </a:ext>
            </a:extLst>
          </p:cNvPr>
          <p:cNvSpPr txBox="1"/>
          <p:nvPr/>
        </p:nvSpPr>
        <p:spPr>
          <a:xfrm>
            <a:off x="5023262" y="2136338"/>
            <a:ext cx="3135219" cy="2585323"/>
          </a:xfrm>
          <a:prstGeom prst="rect">
            <a:avLst/>
          </a:prstGeom>
          <a:noFill/>
        </p:spPr>
        <p:txBody>
          <a:bodyPr wrap="square" rtlCol="0">
            <a:spAutoFit/>
          </a:bodyPr>
          <a:lstStyle/>
          <a:p>
            <a:r>
              <a:rPr lang="en-US" dirty="0"/>
              <a:t>Connect Your Data through Account Aggregator (?) – 10 minutes</a:t>
            </a:r>
          </a:p>
          <a:p>
            <a:endParaRPr lang="en-US" dirty="0"/>
          </a:p>
          <a:p>
            <a:r>
              <a:rPr lang="en-US" dirty="0"/>
              <a:t>Fill in data only you know – 30 – 45 minutes</a:t>
            </a:r>
          </a:p>
          <a:p>
            <a:endParaRPr lang="en-US" dirty="0"/>
          </a:p>
          <a:p>
            <a:r>
              <a:rPr lang="en-US" dirty="0"/>
              <a:t>Book Your Plan Discussion call – 2 minutes</a:t>
            </a:r>
          </a:p>
        </p:txBody>
      </p:sp>
      <p:sp>
        <p:nvSpPr>
          <p:cNvPr id="4" name="Rounded Rectangle 3">
            <a:extLst>
              <a:ext uri="{FF2B5EF4-FFF2-40B4-BE49-F238E27FC236}">
                <a16:creationId xmlns:a16="http://schemas.microsoft.com/office/drawing/2014/main" id="{E800D943-C9A8-869B-4717-47BE6A0B8310}"/>
              </a:ext>
            </a:extLst>
          </p:cNvPr>
          <p:cNvSpPr/>
          <p:nvPr/>
        </p:nvSpPr>
        <p:spPr>
          <a:xfrm>
            <a:off x="711496" y="2034045"/>
            <a:ext cx="3409244" cy="310726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Female Profile outline">
            <a:extLst>
              <a:ext uri="{FF2B5EF4-FFF2-40B4-BE49-F238E27FC236}">
                <a16:creationId xmlns:a16="http://schemas.microsoft.com/office/drawing/2014/main" id="{AB29F1F5-A37B-F2A4-D92E-DAA0B030373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02087" y="2034045"/>
            <a:ext cx="2992581" cy="2992581"/>
          </a:xfrm>
          <a:prstGeom prst="rect">
            <a:avLst/>
          </a:prstGeom>
        </p:spPr>
      </p:pic>
    </p:spTree>
    <p:extLst>
      <p:ext uri="{BB962C8B-B14F-4D97-AF65-F5344CB8AC3E}">
        <p14:creationId xmlns:p14="http://schemas.microsoft.com/office/powerpoint/2010/main" val="17675902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9C31F-862C-83C6-EE9E-4D27493278C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D25C8E-D70E-0A3F-3517-49340B2C981D}"/>
              </a:ext>
            </a:extLst>
          </p:cNvPr>
          <p:cNvSpPr txBox="1"/>
          <p:nvPr/>
        </p:nvSpPr>
        <p:spPr>
          <a:xfrm>
            <a:off x="920043" y="723662"/>
            <a:ext cx="6863938" cy="523220"/>
          </a:xfrm>
          <a:prstGeom prst="rect">
            <a:avLst/>
          </a:prstGeom>
          <a:noFill/>
        </p:spPr>
        <p:txBody>
          <a:bodyPr wrap="square" rtlCol="0">
            <a:spAutoFit/>
          </a:bodyPr>
          <a:lstStyle/>
          <a:p>
            <a:r>
              <a:rPr lang="en-US" sz="2800" dirty="0"/>
              <a:t>Personal and Family details</a:t>
            </a:r>
          </a:p>
        </p:txBody>
      </p:sp>
      <p:sp>
        <p:nvSpPr>
          <p:cNvPr id="4" name="TextBox 3">
            <a:extLst>
              <a:ext uri="{FF2B5EF4-FFF2-40B4-BE49-F238E27FC236}">
                <a16:creationId xmlns:a16="http://schemas.microsoft.com/office/drawing/2014/main" id="{95C6C9A6-5E67-719F-42FF-40946436AE9B}"/>
              </a:ext>
            </a:extLst>
          </p:cNvPr>
          <p:cNvSpPr txBox="1"/>
          <p:nvPr/>
        </p:nvSpPr>
        <p:spPr>
          <a:xfrm>
            <a:off x="920043" y="1685709"/>
            <a:ext cx="6970889" cy="646331"/>
          </a:xfrm>
          <a:prstGeom prst="rect">
            <a:avLst/>
          </a:prstGeom>
          <a:noFill/>
        </p:spPr>
        <p:txBody>
          <a:bodyPr wrap="square">
            <a:spAutoFit/>
          </a:bodyPr>
          <a:lstStyle/>
          <a:p>
            <a:r>
              <a:rPr lang="en-IN" sz="1800" b="0" i="1" dirty="0">
                <a:solidFill>
                  <a:schemeClr val="tx1"/>
                </a:solidFill>
                <a:effectLst/>
                <a:latin typeface="+mn-lt"/>
              </a:rPr>
              <a:t>Let's start with who's in your circle. This shapes everything I'll do next — the plan is built around your family, not around you alone.</a:t>
            </a:r>
            <a:endParaRPr lang="en-US" dirty="0"/>
          </a:p>
        </p:txBody>
      </p:sp>
    </p:spTree>
    <p:extLst>
      <p:ext uri="{BB962C8B-B14F-4D97-AF65-F5344CB8AC3E}">
        <p14:creationId xmlns:p14="http://schemas.microsoft.com/office/powerpoint/2010/main" val="276190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95F6A9-88A1-54C2-26F5-F8FB46033297}"/>
              </a:ext>
            </a:extLst>
          </p:cNvPr>
          <p:cNvSpPr txBox="1"/>
          <p:nvPr/>
        </p:nvSpPr>
        <p:spPr>
          <a:xfrm>
            <a:off x="1175657" y="938151"/>
            <a:ext cx="6863938" cy="584775"/>
          </a:xfrm>
          <a:prstGeom prst="rect">
            <a:avLst/>
          </a:prstGeom>
          <a:noFill/>
        </p:spPr>
        <p:txBody>
          <a:bodyPr wrap="square" rtlCol="0">
            <a:spAutoFit/>
          </a:bodyPr>
          <a:lstStyle/>
          <a:p>
            <a:r>
              <a:rPr lang="en-US" sz="3200" dirty="0"/>
              <a:t>Account Aggregator Journey</a:t>
            </a:r>
          </a:p>
        </p:txBody>
      </p:sp>
      <p:sp>
        <p:nvSpPr>
          <p:cNvPr id="4" name="TextBox 3">
            <a:extLst>
              <a:ext uri="{FF2B5EF4-FFF2-40B4-BE49-F238E27FC236}">
                <a16:creationId xmlns:a16="http://schemas.microsoft.com/office/drawing/2014/main" id="{798155C7-1315-BC65-2A89-746288C671A1}"/>
              </a:ext>
            </a:extLst>
          </p:cNvPr>
          <p:cNvSpPr txBox="1"/>
          <p:nvPr/>
        </p:nvSpPr>
        <p:spPr>
          <a:xfrm>
            <a:off x="1175656" y="1929347"/>
            <a:ext cx="7053943" cy="923330"/>
          </a:xfrm>
          <a:prstGeom prst="rect">
            <a:avLst/>
          </a:prstGeom>
          <a:noFill/>
        </p:spPr>
        <p:txBody>
          <a:bodyPr wrap="square">
            <a:spAutoFit/>
          </a:bodyPr>
          <a:lstStyle/>
          <a:p>
            <a:r>
              <a:rPr lang="en-IN" sz="1800" b="0" i="1" dirty="0">
                <a:solidFill>
                  <a:schemeClr val="tx1"/>
                </a:solidFill>
                <a:effectLst/>
                <a:latin typeface="+mn-lt"/>
              </a:rPr>
              <a:t>This is the one shortcut we get. Consent to Account Aggregator once and I can fetch most of your financial picture in a minute. What can't come through here, you'll fill in yourself.</a:t>
            </a:r>
            <a:endParaRPr lang="en-US" dirty="0"/>
          </a:p>
        </p:txBody>
      </p:sp>
    </p:spTree>
    <p:extLst>
      <p:ext uri="{BB962C8B-B14F-4D97-AF65-F5344CB8AC3E}">
        <p14:creationId xmlns:p14="http://schemas.microsoft.com/office/powerpoint/2010/main" val="2360946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CD3B9-6B52-F9EB-66BD-59C9F76FCE4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EF1D67D-DEA1-1690-BD3A-5FB27B4D3643}"/>
              </a:ext>
            </a:extLst>
          </p:cNvPr>
          <p:cNvSpPr txBox="1"/>
          <p:nvPr/>
        </p:nvSpPr>
        <p:spPr>
          <a:xfrm>
            <a:off x="1175657" y="938151"/>
            <a:ext cx="6863938" cy="584775"/>
          </a:xfrm>
          <a:prstGeom prst="rect">
            <a:avLst/>
          </a:prstGeom>
          <a:noFill/>
        </p:spPr>
        <p:txBody>
          <a:bodyPr wrap="square" rtlCol="0">
            <a:spAutoFit/>
          </a:bodyPr>
          <a:lstStyle/>
          <a:p>
            <a:r>
              <a:rPr lang="en-US" sz="3200" dirty="0"/>
              <a:t>Account Aggregator Journey</a:t>
            </a:r>
          </a:p>
        </p:txBody>
      </p:sp>
      <p:sp>
        <p:nvSpPr>
          <p:cNvPr id="4" name="TextBox 3">
            <a:extLst>
              <a:ext uri="{FF2B5EF4-FFF2-40B4-BE49-F238E27FC236}">
                <a16:creationId xmlns:a16="http://schemas.microsoft.com/office/drawing/2014/main" id="{9782C50C-F65F-2AF9-5B10-9B79E6A920B9}"/>
              </a:ext>
            </a:extLst>
          </p:cNvPr>
          <p:cNvSpPr txBox="1"/>
          <p:nvPr/>
        </p:nvSpPr>
        <p:spPr>
          <a:xfrm>
            <a:off x="1175656" y="1929347"/>
            <a:ext cx="7053943" cy="646331"/>
          </a:xfrm>
          <a:prstGeom prst="rect">
            <a:avLst/>
          </a:prstGeom>
          <a:noFill/>
        </p:spPr>
        <p:txBody>
          <a:bodyPr wrap="square">
            <a:spAutoFit/>
          </a:bodyPr>
          <a:lstStyle/>
          <a:p>
            <a:r>
              <a:rPr lang="en-IN" i="1" dirty="0"/>
              <a:t>Here's what came through. Have a look – sounds off anything that's off. This is the picture I'll build your plan from.</a:t>
            </a:r>
            <a:endParaRPr lang="en-US" dirty="0"/>
          </a:p>
        </p:txBody>
      </p:sp>
    </p:spTree>
    <p:extLst>
      <p:ext uri="{BB962C8B-B14F-4D97-AF65-F5344CB8AC3E}">
        <p14:creationId xmlns:p14="http://schemas.microsoft.com/office/powerpoint/2010/main" val="1713921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9B5F2-0882-9D06-6EA4-77B295F6687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6E6DE1D-334F-6592-594C-3BC16892B551}"/>
              </a:ext>
            </a:extLst>
          </p:cNvPr>
          <p:cNvSpPr txBox="1"/>
          <p:nvPr/>
        </p:nvSpPr>
        <p:spPr>
          <a:xfrm>
            <a:off x="1175657" y="938151"/>
            <a:ext cx="6863938" cy="584775"/>
          </a:xfrm>
          <a:prstGeom prst="rect">
            <a:avLst/>
          </a:prstGeom>
          <a:noFill/>
        </p:spPr>
        <p:txBody>
          <a:bodyPr wrap="square" rtlCol="0">
            <a:spAutoFit/>
          </a:bodyPr>
          <a:lstStyle/>
          <a:p>
            <a:r>
              <a:rPr lang="en-US" sz="3200" dirty="0"/>
              <a:t>Rest of the data Journey - Assets</a:t>
            </a:r>
          </a:p>
        </p:txBody>
      </p:sp>
      <p:sp>
        <p:nvSpPr>
          <p:cNvPr id="4" name="TextBox 3">
            <a:extLst>
              <a:ext uri="{FF2B5EF4-FFF2-40B4-BE49-F238E27FC236}">
                <a16:creationId xmlns:a16="http://schemas.microsoft.com/office/drawing/2014/main" id="{0A0F5E8D-BED3-0502-C8CB-C052A433D5DA}"/>
              </a:ext>
            </a:extLst>
          </p:cNvPr>
          <p:cNvSpPr txBox="1"/>
          <p:nvPr/>
        </p:nvSpPr>
        <p:spPr>
          <a:xfrm>
            <a:off x="1175656" y="1929347"/>
            <a:ext cx="7053943" cy="923330"/>
          </a:xfrm>
          <a:prstGeom prst="rect">
            <a:avLst/>
          </a:prstGeom>
          <a:noFill/>
        </p:spPr>
        <p:txBody>
          <a:bodyPr wrap="square">
            <a:spAutoFit/>
          </a:bodyPr>
          <a:lstStyle/>
          <a:p>
            <a:r>
              <a:rPr lang="en-IN" i="1" dirty="0"/>
              <a:t>A few things Account Aggregator can't see for us — property, gold in the locker, anything private. Approximate values are fine; we can refine later.</a:t>
            </a:r>
            <a:endParaRPr lang="en-US" dirty="0"/>
          </a:p>
        </p:txBody>
      </p:sp>
    </p:spTree>
    <p:extLst>
      <p:ext uri="{BB962C8B-B14F-4D97-AF65-F5344CB8AC3E}">
        <p14:creationId xmlns:p14="http://schemas.microsoft.com/office/powerpoint/2010/main" val="18531216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1265F-10F9-8F4F-4A68-3C40584BB73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9230DE-E194-4B3B-510B-EFFA3B4CD4B1}"/>
              </a:ext>
            </a:extLst>
          </p:cNvPr>
          <p:cNvSpPr txBox="1"/>
          <p:nvPr/>
        </p:nvSpPr>
        <p:spPr>
          <a:xfrm>
            <a:off x="1175657" y="938151"/>
            <a:ext cx="6863938" cy="584775"/>
          </a:xfrm>
          <a:prstGeom prst="rect">
            <a:avLst/>
          </a:prstGeom>
          <a:noFill/>
        </p:spPr>
        <p:txBody>
          <a:bodyPr wrap="square" rtlCol="0">
            <a:spAutoFit/>
          </a:bodyPr>
          <a:lstStyle/>
          <a:p>
            <a:r>
              <a:rPr lang="en-US" sz="3200" dirty="0"/>
              <a:t>Rest of the data Journey - Insurance</a:t>
            </a:r>
          </a:p>
        </p:txBody>
      </p:sp>
      <p:sp>
        <p:nvSpPr>
          <p:cNvPr id="4" name="TextBox 3">
            <a:extLst>
              <a:ext uri="{FF2B5EF4-FFF2-40B4-BE49-F238E27FC236}">
                <a16:creationId xmlns:a16="http://schemas.microsoft.com/office/drawing/2014/main" id="{E0A235F8-53BA-00EE-42CD-2006D47C1123}"/>
              </a:ext>
            </a:extLst>
          </p:cNvPr>
          <p:cNvSpPr txBox="1"/>
          <p:nvPr/>
        </p:nvSpPr>
        <p:spPr>
          <a:xfrm>
            <a:off x="1175656" y="1929347"/>
            <a:ext cx="7053943" cy="1200329"/>
          </a:xfrm>
          <a:prstGeom prst="rect">
            <a:avLst/>
          </a:prstGeom>
          <a:noFill/>
        </p:spPr>
        <p:txBody>
          <a:bodyPr wrap="square">
            <a:spAutoFit/>
          </a:bodyPr>
          <a:lstStyle/>
          <a:p>
            <a:r>
              <a:rPr lang="en-IN" i="1" dirty="0"/>
              <a:t>Insurance is where most families are either over-covered on things that are not so important or under-covered on very important matters. Let's see what you have - then in the plan, I'll tell you what can be done to make the best use of them</a:t>
            </a:r>
            <a:endParaRPr lang="en-US" dirty="0"/>
          </a:p>
        </p:txBody>
      </p:sp>
    </p:spTree>
    <p:extLst>
      <p:ext uri="{BB962C8B-B14F-4D97-AF65-F5344CB8AC3E}">
        <p14:creationId xmlns:p14="http://schemas.microsoft.com/office/powerpoint/2010/main" val="3986113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98188-A6C0-D494-B18B-D5022AC98F2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3E01AE3-5338-331A-DBC1-8D83925D764D}"/>
              </a:ext>
            </a:extLst>
          </p:cNvPr>
          <p:cNvSpPr txBox="1"/>
          <p:nvPr/>
        </p:nvSpPr>
        <p:spPr>
          <a:xfrm>
            <a:off x="1175657" y="938151"/>
            <a:ext cx="6863938" cy="584775"/>
          </a:xfrm>
          <a:prstGeom prst="rect">
            <a:avLst/>
          </a:prstGeom>
          <a:noFill/>
        </p:spPr>
        <p:txBody>
          <a:bodyPr wrap="square" rtlCol="0">
            <a:spAutoFit/>
          </a:bodyPr>
          <a:lstStyle/>
          <a:p>
            <a:r>
              <a:rPr lang="en-US" sz="3200" dirty="0"/>
              <a:t>Rest of the data Journey - Income</a:t>
            </a:r>
          </a:p>
        </p:txBody>
      </p:sp>
      <p:sp>
        <p:nvSpPr>
          <p:cNvPr id="4" name="TextBox 3">
            <a:extLst>
              <a:ext uri="{FF2B5EF4-FFF2-40B4-BE49-F238E27FC236}">
                <a16:creationId xmlns:a16="http://schemas.microsoft.com/office/drawing/2014/main" id="{A1CE47D7-E582-9487-7A33-EC4C881017B9}"/>
              </a:ext>
            </a:extLst>
          </p:cNvPr>
          <p:cNvSpPr txBox="1"/>
          <p:nvPr/>
        </p:nvSpPr>
        <p:spPr>
          <a:xfrm>
            <a:off x="1175656" y="1929347"/>
            <a:ext cx="7053943" cy="923330"/>
          </a:xfrm>
          <a:prstGeom prst="rect">
            <a:avLst/>
          </a:prstGeom>
          <a:noFill/>
        </p:spPr>
        <p:txBody>
          <a:bodyPr wrap="square">
            <a:spAutoFit/>
          </a:bodyPr>
          <a:lstStyle/>
          <a:p>
            <a:r>
              <a:rPr lang="en-IN" i="1" dirty="0"/>
              <a:t>Here's what your money did over the last twelve months, as best I can see. Adjust anything that isn't right, and add what I missed. This is the hardest bit — we're almost through.</a:t>
            </a:r>
            <a:endParaRPr lang="en-US" dirty="0"/>
          </a:p>
        </p:txBody>
      </p:sp>
    </p:spTree>
    <p:extLst>
      <p:ext uri="{BB962C8B-B14F-4D97-AF65-F5344CB8AC3E}">
        <p14:creationId xmlns:p14="http://schemas.microsoft.com/office/powerpoint/2010/main" val="27007748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DE180-CB5A-37B2-8A47-FDA319DBAED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F7E4E39-5877-3C3D-8A76-02EAA10C468E}"/>
              </a:ext>
            </a:extLst>
          </p:cNvPr>
          <p:cNvSpPr txBox="1"/>
          <p:nvPr/>
        </p:nvSpPr>
        <p:spPr>
          <a:xfrm>
            <a:off x="1175657" y="938151"/>
            <a:ext cx="6863938" cy="584775"/>
          </a:xfrm>
          <a:prstGeom prst="rect">
            <a:avLst/>
          </a:prstGeom>
          <a:noFill/>
        </p:spPr>
        <p:txBody>
          <a:bodyPr wrap="square" rtlCol="0">
            <a:spAutoFit/>
          </a:bodyPr>
          <a:lstStyle/>
          <a:p>
            <a:r>
              <a:rPr lang="en-US" sz="3200" dirty="0"/>
              <a:t>Rest of the data Journey - Goals</a:t>
            </a:r>
          </a:p>
        </p:txBody>
      </p:sp>
      <p:sp>
        <p:nvSpPr>
          <p:cNvPr id="4" name="TextBox 3">
            <a:extLst>
              <a:ext uri="{FF2B5EF4-FFF2-40B4-BE49-F238E27FC236}">
                <a16:creationId xmlns:a16="http://schemas.microsoft.com/office/drawing/2014/main" id="{F0184B11-870C-A9E1-D19C-BCF7D7CA64A0}"/>
              </a:ext>
            </a:extLst>
          </p:cNvPr>
          <p:cNvSpPr txBox="1"/>
          <p:nvPr/>
        </p:nvSpPr>
        <p:spPr>
          <a:xfrm>
            <a:off x="1175656" y="1929347"/>
            <a:ext cx="7053943" cy="923330"/>
          </a:xfrm>
          <a:prstGeom prst="rect">
            <a:avLst/>
          </a:prstGeom>
          <a:noFill/>
        </p:spPr>
        <p:txBody>
          <a:bodyPr wrap="square">
            <a:spAutoFit/>
          </a:bodyPr>
          <a:lstStyle/>
          <a:p>
            <a:r>
              <a:rPr lang="en-IN" i="1" dirty="0"/>
              <a:t>Last one, and the most important. Everything I've built so far tells me where you are. This tells me where we're heading and what is coming along the way. Take your time.</a:t>
            </a:r>
            <a:endParaRPr lang="en-US" dirty="0"/>
          </a:p>
        </p:txBody>
      </p:sp>
    </p:spTree>
    <p:extLst>
      <p:ext uri="{BB962C8B-B14F-4D97-AF65-F5344CB8AC3E}">
        <p14:creationId xmlns:p14="http://schemas.microsoft.com/office/powerpoint/2010/main" val="1830200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482BA-B62E-0563-48B6-EE80E6B509B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3264B7F-72D2-FF7D-E271-E0135A690B02}"/>
              </a:ext>
            </a:extLst>
          </p:cNvPr>
          <p:cNvSpPr txBox="1"/>
          <p:nvPr/>
        </p:nvSpPr>
        <p:spPr>
          <a:xfrm>
            <a:off x="1175657" y="938151"/>
            <a:ext cx="6863938" cy="1077218"/>
          </a:xfrm>
          <a:prstGeom prst="rect">
            <a:avLst/>
          </a:prstGeom>
          <a:noFill/>
        </p:spPr>
        <p:txBody>
          <a:bodyPr wrap="square" rtlCol="0">
            <a:spAutoFit/>
          </a:bodyPr>
          <a:lstStyle/>
          <a:p>
            <a:r>
              <a:rPr lang="en-US" sz="3200" dirty="0"/>
              <a:t>Understand and Set Right expectation for the financial Plan call</a:t>
            </a:r>
          </a:p>
        </p:txBody>
      </p:sp>
      <p:sp>
        <p:nvSpPr>
          <p:cNvPr id="3" name="Rounded Rectangle 2">
            <a:extLst>
              <a:ext uri="{FF2B5EF4-FFF2-40B4-BE49-F238E27FC236}">
                <a16:creationId xmlns:a16="http://schemas.microsoft.com/office/drawing/2014/main" id="{32745265-7AB8-CF15-D650-8CBAC76EC441}"/>
              </a:ext>
            </a:extLst>
          </p:cNvPr>
          <p:cNvSpPr/>
          <p:nvPr/>
        </p:nvSpPr>
        <p:spPr>
          <a:xfrm>
            <a:off x="745363" y="2621067"/>
            <a:ext cx="3409244" cy="310726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descr="Female Profile outline">
            <a:extLst>
              <a:ext uri="{FF2B5EF4-FFF2-40B4-BE49-F238E27FC236}">
                <a16:creationId xmlns:a16="http://schemas.microsoft.com/office/drawing/2014/main" id="{41F674F1-96AE-80BB-8B82-C3ED23DE8C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35954" y="2621067"/>
            <a:ext cx="2992581" cy="2992581"/>
          </a:xfrm>
          <a:prstGeom prst="rect">
            <a:avLst/>
          </a:prstGeom>
        </p:spPr>
      </p:pic>
      <p:sp>
        <p:nvSpPr>
          <p:cNvPr id="6" name="TextBox 5">
            <a:extLst>
              <a:ext uri="{FF2B5EF4-FFF2-40B4-BE49-F238E27FC236}">
                <a16:creationId xmlns:a16="http://schemas.microsoft.com/office/drawing/2014/main" id="{E6F5E599-8CE2-9F3D-B847-16F36F42A8E8}"/>
              </a:ext>
            </a:extLst>
          </p:cNvPr>
          <p:cNvSpPr txBox="1"/>
          <p:nvPr/>
        </p:nvSpPr>
        <p:spPr>
          <a:xfrm>
            <a:off x="4492978" y="2540000"/>
            <a:ext cx="4154311" cy="3139321"/>
          </a:xfrm>
          <a:prstGeom prst="rect">
            <a:avLst/>
          </a:prstGeom>
          <a:noFill/>
        </p:spPr>
        <p:txBody>
          <a:bodyPr wrap="square" rtlCol="0">
            <a:spAutoFit/>
          </a:bodyPr>
          <a:lstStyle/>
          <a:p>
            <a:r>
              <a:rPr lang="en-US" dirty="0"/>
              <a:t>This call will be for 45 minutes</a:t>
            </a:r>
          </a:p>
          <a:p>
            <a:r>
              <a:rPr lang="en-US" dirty="0"/>
              <a:t>We will discuss your current situation and future aspirations</a:t>
            </a:r>
          </a:p>
          <a:p>
            <a:r>
              <a:rPr lang="en-US" dirty="0"/>
              <a:t>We will see how money will play a part in the journey and look for opportunities to improvise using 5 Alpha framework</a:t>
            </a:r>
          </a:p>
          <a:p>
            <a:r>
              <a:rPr lang="en-US" dirty="0"/>
              <a:t>If big decisions are to made – we will run a few scenarios to decide the right course of action. Please share any specific expectations you have from the call. I look forward to meeting you soon</a:t>
            </a:r>
          </a:p>
        </p:txBody>
      </p:sp>
      <p:sp>
        <p:nvSpPr>
          <p:cNvPr id="7" name="TextBox 6">
            <a:extLst>
              <a:ext uri="{FF2B5EF4-FFF2-40B4-BE49-F238E27FC236}">
                <a16:creationId xmlns:a16="http://schemas.microsoft.com/office/drawing/2014/main" id="{7CF8CB45-AFDC-14BE-D2E9-A2E2ADBAD307}"/>
              </a:ext>
            </a:extLst>
          </p:cNvPr>
          <p:cNvSpPr txBox="1"/>
          <p:nvPr/>
        </p:nvSpPr>
        <p:spPr>
          <a:xfrm>
            <a:off x="1354667" y="6005689"/>
            <a:ext cx="6684928" cy="369332"/>
          </a:xfrm>
          <a:prstGeom prst="rect">
            <a:avLst/>
          </a:prstGeom>
          <a:noFill/>
        </p:spPr>
        <p:txBody>
          <a:bodyPr wrap="square" rtlCol="0">
            <a:spAutoFit/>
          </a:bodyPr>
          <a:lstStyle/>
          <a:p>
            <a:r>
              <a:rPr lang="en-US" dirty="0"/>
              <a:t>Share your comments / expectations from the call</a:t>
            </a:r>
          </a:p>
        </p:txBody>
      </p:sp>
    </p:spTree>
    <p:extLst>
      <p:ext uri="{BB962C8B-B14F-4D97-AF65-F5344CB8AC3E}">
        <p14:creationId xmlns:p14="http://schemas.microsoft.com/office/powerpoint/2010/main" val="195686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2F77D-84F6-D9EE-2198-1375FE7BD2F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D803125-2B5F-9004-5107-5D9F192D8EEC}"/>
              </a:ext>
            </a:extLst>
          </p:cNvPr>
          <p:cNvSpPr txBox="1"/>
          <p:nvPr/>
        </p:nvSpPr>
        <p:spPr>
          <a:xfrm>
            <a:off x="1140178" y="914400"/>
            <a:ext cx="6908800" cy="369332"/>
          </a:xfrm>
          <a:prstGeom prst="rect">
            <a:avLst/>
          </a:prstGeom>
          <a:noFill/>
        </p:spPr>
        <p:txBody>
          <a:bodyPr wrap="square" rtlCol="0">
            <a:spAutoFit/>
          </a:bodyPr>
          <a:lstStyle/>
          <a:p>
            <a:r>
              <a:rPr lang="en-US" dirty="0"/>
              <a:t>Call Script to be trained</a:t>
            </a:r>
          </a:p>
        </p:txBody>
      </p:sp>
    </p:spTree>
    <p:extLst>
      <p:ext uri="{BB962C8B-B14F-4D97-AF65-F5344CB8AC3E}">
        <p14:creationId xmlns:p14="http://schemas.microsoft.com/office/powerpoint/2010/main" val="26469769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6F285-C6E6-2419-C500-7567C771E39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9948B4B-7C42-7BA5-8CB4-CC4B6377F367}"/>
              </a:ext>
            </a:extLst>
          </p:cNvPr>
          <p:cNvSpPr txBox="1"/>
          <p:nvPr/>
        </p:nvSpPr>
        <p:spPr>
          <a:xfrm>
            <a:off x="1140178" y="914400"/>
            <a:ext cx="6908800" cy="369332"/>
          </a:xfrm>
          <a:prstGeom prst="rect">
            <a:avLst/>
          </a:prstGeom>
          <a:noFill/>
        </p:spPr>
        <p:txBody>
          <a:bodyPr wrap="square" rtlCol="0">
            <a:spAutoFit/>
          </a:bodyPr>
          <a:lstStyle/>
          <a:p>
            <a:r>
              <a:rPr lang="en-US" dirty="0"/>
              <a:t>Post Call – 90 day engagement plan</a:t>
            </a:r>
          </a:p>
        </p:txBody>
      </p:sp>
      <p:sp>
        <p:nvSpPr>
          <p:cNvPr id="2" name="TextBox 1">
            <a:extLst>
              <a:ext uri="{FF2B5EF4-FFF2-40B4-BE49-F238E27FC236}">
                <a16:creationId xmlns:a16="http://schemas.microsoft.com/office/drawing/2014/main" id="{3F01C72C-90C6-15A6-F983-E077BFD30C0F}"/>
              </a:ext>
            </a:extLst>
          </p:cNvPr>
          <p:cNvSpPr txBox="1"/>
          <p:nvPr/>
        </p:nvSpPr>
        <p:spPr>
          <a:xfrm>
            <a:off x="1241778" y="1919111"/>
            <a:ext cx="4413955" cy="369332"/>
          </a:xfrm>
          <a:prstGeom prst="rect">
            <a:avLst/>
          </a:prstGeom>
          <a:noFill/>
        </p:spPr>
        <p:txBody>
          <a:bodyPr wrap="square" rtlCol="0">
            <a:spAutoFit/>
          </a:bodyPr>
          <a:lstStyle/>
          <a:p>
            <a:r>
              <a:rPr lang="en-US" dirty="0"/>
              <a:t>App – </a:t>
            </a:r>
            <a:r>
              <a:rPr lang="en-US"/>
              <a:t>Home page</a:t>
            </a:r>
          </a:p>
        </p:txBody>
      </p:sp>
    </p:spTree>
    <p:extLst>
      <p:ext uri="{BB962C8B-B14F-4D97-AF65-F5344CB8AC3E}">
        <p14:creationId xmlns:p14="http://schemas.microsoft.com/office/powerpoint/2010/main" val="7627808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46AF7-1521-A831-547E-515D8F1C320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2748FA-B85D-C362-0D58-AFE68FC8B63A}"/>
              </a:ext>
            </a:extLst>
          </p:cNvPr>
          <p:cNvSpPr txBox="1"/>
          <p:nvPr/>
        </p:nvSpPr>
        <p:spPr>
          <a:xfrm>
            <a:off x="1140178" y="914400"/>
            <a:ext cx="6908800" cy="369332"/>
          </a:xfrm>
          <a:prstGeom prst="rect">
            <a:avLst/>
          </a:prstGeom>
          <a:noFill/>
        </p:spPr>
        <p:txBody>
          <a:bodyPr wrap="square" rtlCol="0">
            <a:spAutoFit/>
          </a:bodyPr>
          <a:lstStyle/>
          <a:p>
            <a:r>
              <a:rPr lang="en-US" dirty="0"/>
              <a:t>Returning Client – on the App</a:t>
            </a:r>
          </a:p>
        </p:txBody>
      </p:sp>
      <p:sp>
        <p:nvSpPr>
          <p:cNvPr id="2" name="TextBox 1">
            <a:extLst>
              <a:ext uri="{FF2B5EF4-FFF2-40B4-BE49-F238E27FC236}">
                <a16:creationId xmlns:a16="http://schemas.microsoft.com/office/drawing/2014/main" id="{69B5DFF0-16B4-5732-CF08-4E72EBFDE7FD}"/>
              </a:ext>
            </a:extLst>
          </p:cNvPr>
          <p:cNvSpPr txBox="1"/>
          <p:nvPr/>
        </p:nvSpPr>
        <p:spPr>
          <a:xfrm>
            <a:off x="1140178" y="1998133"/>
            <a:ext cx="5588000" cy="2862322"/>
          </a:xfrm>
          <a:prstGeom prst="rect">
            <a:avLst/>
          </a:prstGeom>
          <a:noFill/>
        </p:spPr>
        <p:txBody>
          <a:bodyPr wrap="square" rtlCol="0">
            <a:spAutoFit/>
          </a:bodyPr>
          <a:lstStyle/>
          <a:p>
            <a:r>
              <a:rPr lang="en-US" dirty="0" err="1"/>
              <a:t>Networth</a:t>
            </a:r>
            <a:r>
              <a:rPr lang="en-US" dirty="0"/>
              <a:t> Number Live, </a:t>
            </a:r>
          </a:p>
          <a:p>
            <a:r>
              <a:rPr lang="en-US" dirty="0"/>
              <a:t>My </a:t>
            </a:r>
            <a:r>
              <a:rPr lang="en-US" dirty="0" err="1"/>
              <a:t>Networth</a:t>
            </a:r>
            <a:r>
              <a:rPr lang="en-US" dirty="0"/>
              <a:t> Growth – Progress report</a:t>
            </a:r>
          </a:p>
          <a:p>
            <a:r>
              <a:rPr lang="en-US" dirty="0"/>
              <a:t>Wheel of Wealth – Updated</a:t>
            </a:r>
          </a:p>
          <a:p>
            <a:r>
              <a:rPr lang="en-US" dirty="0"/>
              <a:t>Action plan – task queue</a:t>
            </a:r>
          </a:p>
          <a:p>
            <a:r>
              <a:rPr lang="en-US" dirty="0"/>
              <a:t>Upcoming review date</a:t>
            </a:r>
          </a:p>
          <a:p>
            <a:r>
              <a:rPr lang="en-US" dirty="0"/>
              <a:t>Your documents in vault</a:t>
            </a:r>
          </a:p>
          <a:p>
            <a:r>
              <a:rPr lang="en-US" dirty="0"/>
              <a:t>Chatbot with Adviser (Response time 1 day)</a:t>
            </a:r>
          </a:p>
          <a:p>
            <a:r>
              <a:rPr lang="en-US" dirty="0"/>
              <a:t>What’s happening in the community</a:t>
            </a:r>
          </a:p>
          <a:p>
            <a:endParaRPr lang="en-US" dirty="0"/>
          </a:p>
          <a:p>
            <a:endParaRPr lang="en-US" dirty="0"/>
          </a:p>
        </p:txBody>
      </p:sp>
    </p:spTree>
    <p:extLst>
      <p:ext uri="{BB962C8B-B14F-4D97-AF65-F5344CB8AC3E}">
        <p14:creationId xmlns:p14="http://schemas.microsoft.com/office/powerpoint/2010/main" val="109920947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361</TotalTime>
  <Words>1434</Words>
  <Application>Microsoft Macintosh PowerPoint</Application>
  <PresentationFormat>On-screen Show (4:3)</PresentationFormat>
  <Paragraphs>144</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Aptos Display</vt:lpstr>
      <vt:lpstr>Arial</vt:lpstr>
      <vt:lpstr>Office Theme</vt:lpstr>
      <vt:lpstr>Yeslyf</vt:lpstr>
      <vt:lpstr>Video</vt:lpstr>
      <vt:lpstr>PowerPoint Presentation</vt:lpstr>
      <vt:lpstr>PowerPoint Presentation</vt:lpstr>
      <vt:lpstr>PowerPoint Presentation</vt:lpstr>
      <vt:lpstr>PowerPoint Presentation</vt:lpstr>
      <vt:lpstr>PowerPoint Presentation</vt:lpstr>
      <vt:lpstr>Video</vt:lpstr>
      <vt:lpstr>Video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Bhuvana Shreeram</dc:creator>
  <cp:lastModifiedBy>Bhuvana Shreeram</cp:lastModifiedBy>
  <cp:revision>3</cp:revision>
  <dcterms:created xsi:type="dcterms:W3CDTF">2026-09-03T06:49:26Z</dcterms:created>
  <dcterms:modified xsi:type="dcterms:W3CDTF">2026-09-03T13:13:54Z</dcterms:modified>
</cp:coreProperties>
</file>